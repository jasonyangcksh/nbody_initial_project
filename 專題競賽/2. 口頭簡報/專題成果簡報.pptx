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12192000"/>
  <p:notesSz cx="6858000" cy="12192000"/>
  <p:embeddedFontLst>
    <p:embeddedFont>
      <p:font typeface="Noto Sans TC"/>
      <p:regular r:id="rId24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6" roundtripDataSignature="AMtx7mhgitJhWW492ga6Jt/FyJou0JnSU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B6DAB11-8002-4A38-BE15-2C94C2505A4C}">
  <a:tblStyle styleId="{8B6DAB11-8002-4A38-BE15-2C94C2505A4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NotoSansTC-regular.fntdata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customschemas.google.com/relationships/presentationmetadata" Target="metadata"/><Relationship Id="rId25" Type="http://schemas.openxmlformats.org/officeDocument/2006/relationships/font" Target="fonts/NotoSansTC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" name="Google Shape;17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開場：大家好，我們的專題是「異質動態粒子場景下整合八元樹空間分割與 Verlet List 自適應更新之碰撞偵測」，系統名稱是 N-body 粒子碰撞偵測系統。剛剛已經看過系統展示，研究與 C++ 實作、論文由楊耀甯負責，3D 展示由謝采凌負責。這份研究已整理成論文投稿 TANET 2026。</a:t>
            </a:r>
            <a:endParaRPr/>
          </a:p>
        </p:txBody>
      </p:sp>
      <p:sp>
        <p:nvSpPr>
          <p:cNvPr id="18" name="Google Shape;18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剛剛已經看過系統的實際展示，接下來的簡報依序說明研究動機、研究目標、研究方法、實驗結果與結論，最後是後續強化與使用的工具。</a:t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h284909d5204ed4f7_0_3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" name="Google Shape;42;h284909d5204ed4f7_0_3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剛剛已經看過系統的實際展示，接下來的簡報依序說明研究動機、研究目標、研究方法、實驗結果與結論，最後是後續強化與使用的工具。</a:t>
            </a:r>
            <a:endParaRPr/>
          </a:p>
        </p:txBody>
      </p:sp>
      <p:sp>
        <p:nvSpPr>
          <p:cNvPr id="43" name="Google Shape;43;h284909d5204ed4f7_0_3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" name="Google Shape;54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碰撞偵測是 N-body 粒子模擬每一步的效能瓶頸。暴力法要兩兩比對，是 O(n²)；傳統上多用 Uniform Grid 做鄰居搜尋，但它無法針對下面兩種異質性自適應。真實場景還有兩種異質性：左邊是密度異質，粒子群聚的地方候選配對會暴增；右邊是速度異質，少數高速粒子很快就超出緩衝範圍，讓整個空間結構一直重建。固定尺寸的方法很難同時處理這兩件事，這就是我們的出發點。</a:t>
            </a:r>
            <a:endParaRPr/>
          </a:p>
        </p:txBody>
      </p:sp>
      <p:sp>
        <p:nvSpPr>
          <p:cNvPr id="55" name="Google Shape;55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" name="Google Shape;69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對應前面的兩種異質性，本研究有三個目標。第一，引入 Octree 的空間自適應機制，依局部密度細分葉節點，回應密度異質。第二，自適應的 Verlet List／skin 機制：依粒子瞬時速度與加速度動態計算 skin，讓候選清單能跨時間步沿用、減少重建，回應速度異質。第三，skin 上界機制：用空間結構的幾何尺寸限制 skin 的最大值，避免漏判和候選膨脹，並以暴力法逐幀驗證正確性。</a:t>
            </a:r>
            <a:endParaRPr/>
          </a:p>
        </p:txBody>
      </p:sp>
      <p:sp>
        <p:nvSpPr>
          <p:cNvPr id="70" name="Google Shape;70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" name="Google Shape;77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這是論文的實驗架構圖。系統由兩大核心模組組成：空間分割負責篩出可能碰撞的候選配對，有 Uniform Grid 和 Octree 兩種；時間連貫性負責計算 skin、判斷粒子位移是否超過 skin，決定候選清單能不能沿用。兩者的交集是 skin 上界約束：空間結構的幾何尺寸限制 skin 的最大值，讓空間和時間兩個維度互相制約。接下來依序說明每個模組。</a:t>
            </a:r>
            <a:endParaRPr/>
          </a:p>
        </p:txBody>
      </p:sp>
      <p:sp>
        <p:nvSpPr>
          <p:cNvPr id="78" name="Google Shape;78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空間分割有兩種結構。實驗組 Octree 依局部粒子密度動態分割，以粒子所在葉節點的半邊長作為 skin 的幾何限制；對照組 Uniform Grid 用固定網格搭配雜湊表，粒子以 O(1) 映射到格子、只檢查 13 個前向鄰格，以網格邊長作為上界。左圖用同一群粒子比較兩種切法。核心資料結構方面：本專題沒有資料庫，粒子記錄自己的位置、速度、加速度、半徑和 skin，歸入網格或八元樹節點，鄰近搜尋後產生候選配對清單，也就是 Verlet List；另外記錄位置快照，用來判定清單是否失效。</a:t>
            </a:r>
            <a:endParaRPr/>
          </a:p>
        </p:txBody>
      </p:sp>
      <p:sp>
        <p:nvSpPr>
          <p:cNvPr id="88" name="Google Shape;88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2" name="Google Shape;102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先看時間連貫性：第一，動態 skin 用二階運動學模型預測粒子未來 K 步內的位移，速度越快、加速度越大，skin 越寬；第二，每次重建時記錄位置快照，之後每步算累積位移，任何一顆超過自己的 skin 就重建，否則沿用清單、跳過 Broad-Phase。再看 skin 上界約束：skin 太寬會超出搜尋範圍而漏判。Uniform Grid 只搜尋鄰格，兩顆粒子可能相向移動，所以各自只能用半格；Octree 用葉節點半邊長，密集處自動收緊、稀疏處放寬。</a:t>
            </a:r>
            <a:endParaRPr/>
          </a:p>
        </p:txBody>
      </p:sp>
      <p:sp>
        <p:nvSpPr>
          <p:cNvPr id="103" name="Google Shape;103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h30183f993f47d20a_0_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6" name="Google Shape;116;h30183f993f47d20a_0_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先看時間連貫性：第一，動態 skin 用二階運動學模型預測粒子未來 K 步內的位移，速度越快、加速度越大，skin 越寬；第二，每次重建時記錄位置快照，之後每步算累積位移，任何一顆超過自己的 skin 就重建，否則沿用清單、跳過 Broad-Phase。再看 skin 上界約束：skin 太寬會超出搜尋範圍而漏判。Uniform Grid 只搜尋鄰格，兩顆粒子可能相向移動，所以各自只能用半格；Octree 用葉節點半邊長，密集處自動收緊、稀疏處放寬。</a:t>
            </a:r>
            <a:endParaRPr/>
          </a:p>
        </p:txBody>
      </p:sp>
      <p:sp>
        <p:nvSpPr>
          <p:cNvPr id="117" name="Google Shape;117;h30183f993f47d20a_0_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h30183f993f47d20a_0_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7" name="Google Shape;127;h30183f993f47d20a_0_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先看時間連貫性：第一，動態 skin 用二階運動學模型預測粒子未來 K 步內的位移，速度越快、加速度越大，skin 越寬；第二，每次重建時記錄位置快照，之後每步算累積位移，任何一顆超過自己的 skin 就重建，否則沿用清單、跳過 Broad-Phase。再看 skin 上界約束：skin 太寬會超出搜尋範圍而漏判。Uniform Grid 只搜尋鄰格，兩顆粒子可能相向移動，所以各自只能用半格；Octree 用葉節點半邊長，密集處自動收緊、稀疏處放寬。</a:t>
            </a:r>
            <a:endParaRPr/>
          </a:p>
        </p:txBody>
      </p:sp>
      <p:sp>
        <p:nvSpPr>
          <p:cNvPr id="128" name="Google Shape;128;h30183f993f47d20a_0_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h30183f993f47d20a_0_4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2" name="Google Shape;142;h30183f993f47d20a_0_4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先看時間連貫性：第一，動態 skin 用二階運動學模型預測粒子未來 K 步內的位移，速度越快、加速度越大，skin 越寬；第二，每次重建時記錄位置快照，之後每步算累積位移，任何一顆超過自己的 skin 就重建，否則沿用清單、跳過 Broad-Phase。再看 skin 上界約束：skin 太寬會超出搜尋範圍而漏判。Uniform Grid 只搜尋鄰格，兩顆粒子可能相向移動，所以各自只能用半格；Octree 用葉節點半邊長，密集處自動收緊、稀疏處放寬。</a:t>
            </a:r>
            <a:endParaRPr/>
          </a:p>
        </p:txBody>
      </p:sp>
      <p:sp>
        <p:nvSpPr>
          <p:cNvPr id="143" name="Google Shape;143;h30183f993f47d20a_0_4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2" name="Google Shape;152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左邊是論文的碰撞偵測流程圖，把前面的模組串起來：每個時間步先判斷鄰居清單是否仍有效，有效就走快速路徑，沿用清單、跳過 Broad-Phase；只要有粒子越界，就重建空間結構、更新每顆粒子的 skin、記錄新位置作為基準點。兩條路徑最後都進入 Narrow-Phase、處理碰撞和積分。右邊是實驗設計：空間分布和速度差異交叉成四種場景，固定一萬顆粒子、一千個時間步，K 值從 1 調到 1000，量測重建次數、每次重建的平均候選對數和執行時間。</a:t>
            </a:r>
            <a:endParaRPr/>
          </a:p>
        </p:txBody>
      </p:sp>
      <p:sp>
        <p:nvSpPr>
          <p:cNvPr id="153" name="Google Shape;153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h284909d5204ed4f7_0_21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h284909d5204ed4f7_0_21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4" name="Google Shape;174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這是 K=100 時的主要結果：一萬顆粒子、一千個時間步、單執行緒量測。表格比較兩組在四種場景下的重建次數、平均候選對數和總執行時間。首先是正確性：四種場景、所有 K 值設定下，兩組的候選判定都和暴力法完全一致。接下來從三個面向來看這些數據：密度異質、速度異質，以及重建與候選之間的取捨。</a:t>
            </a:r>
            <a:endParaRPr/>
          </a:p>
        </p:txBody>
      </p:sp>
      <p:sp>
        <p:nvSpPr>
          <p:cNvPr id="175" name="Google Shape;175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5" name="Google Shape;185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第一個面向是密度異質：低速差下從均勻轉成群聚，UG 的平均候選對數變成約 5.2 倍，OT 只變約 1.6 倍。原因是 UG 網格大小固定，群聚時格內粒子大增，候選配對隨之暴增；OT 依密度細分葉節點，skin 上界隨節點縮小而收緊，搜尋範圍不會隨密度過度擴大。第二個面向是速度異質：均勻分布下轉為高速差，UG 重建從 70 次增加到上限 1000 次，等於每步都重建，skin 機制幾乎失效；OT 從 28 次增加到 500 次。高速粒子的 skin 被幾何上界截斷，很快就越界，而任一粒子越界就要全域重建，所以少數高速粒子就主導了整體的重建頻率。</a:t>
            </a:r>
            <a:endParaRPr/>
          </a:p>
        </p:txBody>
      </p:sp>
      <p:sp>
        <p:nvSpPr>
          <p:cNvPr id="186" name="Google Shape;186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6" name="Google Shape;196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第三個面向是重建與候選之間的取捨。以均勻、低速差場景為例：OT 重建 28 次，少於 UG 的 70 次；但平均候選對數是 343,152 對 56,752，執行時間是 1.144 對 0.413 秒。原因是 OT 以葉節點半邊長作為 skin 上界，容許的搜尋範圍普遍大於 UG 的網格半格，所以重建雖然減少了，候選配對卻隨之增加，整體時間反而比較長。</a:t>
            </a:r>
            <a:endParaRPr/>
          </a:p>
        </p:txBody>
      </p:sp>
      <p:sp>
        <p:nvSpPr>
          <p:cNvPr id="197" name="Google Shape;197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9" name="Google Shape;209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總結四點：第一，自適應 skin 加上幾何上界，所有場景和 K 值都保持正確。第二，Octree 能有效降低重建頻率，低速差場景特別明顯。第三，代價是候選規模和執行時間提高，是 Uniform Grid 的 2.1 到 2.8 倍；重建頻率和候選規模之間存在取捨，而且受空間分布和速度異質程度共同影響。第四，目前是單執行緒量測，Octree 葉節點粒子數有上限的特性，在平行環境下可能有利於負載平衡，這是接下來要驗證的方向。</a:t>
            </a:r>
            <a:endParaRPr/>
          </a:p>
        </p:txBody>
      </p:sp>
      <p:sp>
        <p:nvSpPr>
          <p:cNvPr id="210" name="Google Shape;210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7" name="Google Shape;227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謝謝大家，歡迎提問。</a:t>
            </a:r>
            <a:endParaRPr/>
          </a:p>
        </p:txBody>
      </p:sp>
      <p:sp>
        <p:nvSpPr>
          <p:cNvPr id="228" name="Google Shape;228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>
            <p:ph type="title"/>
          </p:nvPr>
        </p:nvSpPr>
        <p:spPr>
          <a:xfrm>
            <a:off x="812800" y="279400"/>
            <a:ext cx="10566401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1A26"/>
              </a:buClr>
              <a:buSzPts val="2600"/>
              <a:buFont typeface="Noto Sans TC"/>
              <a:buNone/>
              <a:defRPr sz="2600">
                <a:solidFill>
                  <a:srgbClr val="121A26"/>
                </a:solidFill>
                <a:latin typeface="Noto Sans TC"/>
                <a:ea typeface="Noto Sans TC"/>
                <a:cs typeface="Noto Sans TC"/>
                <a:sym typeface="Noto Sans T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" name="Google Shape;11;p15"/>
          <p:cNvSpPr txBox="1"/>
          <p:nvPr>
            <p:ph idx="1" type="body"/>
          </p:nvPr>
        </p:nvSpPr>
        <p:spPr>
          <a:xfrm>
            <a:off x="812800" y="980440"/>
            <a:ext cx="10566400" cy="5064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40000"/>
              </a:lnSpc>
              <a:spcBef>
                <a:spcPts val="320"/>
              </a:spcBef>
              <a:spcAft>
                <a:spcPts val="0"/>
              </a:spcAft>
              <a:buClr>
                <a:srgbClr val="121A26"/>
              </a:buClr>
              <a:buSzPts val="1600"/>
              <a:buNone/>
              <a:defRPr sz="1600">
                <a:solidFill>
                  <a:srgbClr val="121A26"/>
                </a:solidFill>
                <a:latin typeface="Noto Sans TC"/>
                <a:ea typeface="Noto Sans TC"/>
                <a:cs typeface="Noto Sans TC"/>
                <a:sym typeface="Noto Sans TC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" name="Google Shape;12;p1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6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812800" y="279400"/>
            <a:ext cx="10566401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1A26"/>
              </a:buClr>
              <a:buSzPts val="2600"/>
              <a:buFont typeface="Noto Sans TC"/>
              <a:buNone/>
              <a:defRPr b="0" i="0" sz="2600" u="none" cap="none" strike="noStrike">
                <a:solidFill>
                  <a:srgbClr val="121A26"/>
                </a:solidFill>
                <a:latin typeface="Noto Sans TC"/>
                <a:ea typeface="Noto Sans TC"/>
                <a:cs typeface="Noto Sans TC"/>
                <a:sym typeface="Noto Sans T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812800" y="980440"/>
            <a:ext cx="10566400" cy="5064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40000"/>
              </a:lnSpc>
              <a:spcBef>
                <a:spcPts val="320"/>
              </a:spcBef>
              <a:spcAft>
                <a:spcPts val="0"/>
              </a:spcAft>
              <a:buClr>
                <a:srgbClr val="121A26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121A26"/>
                </a:solidFill>
                <a:latin typeface="Noto Sans TC"/>
                <a:ea typeface="Noto Sans TC"/>
                <a:cs typeface="Noto Sans TC"/>
                <a:sym typeface="Noto Sans TC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rgbClr val="121A26"/>
                </a:solidFill>
                <a:latin typeface="Noto Sans TC"/>
                <a:ea typeface="Noto Sans TC"/>
                <a:cs typeface="Noto Sans TC"/>
                <a:sym typeface="Noto Sans TC"/>
              </a:defRPr>
            </a:lvl1pPr>
            <a:lvl2pPr lvl="1" algn="r">
              <a:buNone/>
              <a:defRPr sz="1300">
                <a:solidFill>
                  <a:srgbClr val="121A26"/>
                </a:solidFill>
                <a:latin typeface="Noto Sans TC"/>
                <a:ea typeface="Noto Sans TC"/>
                <a:cs typeface="Noto Sans TC"/>
                <a:sym typeface="Noto Sans TC"/>
              </a:defRPr>
            </a:lvl2pPr>
            <a:lvl3pPr lvl="2" algn="r">
              <a:buNone/>
              <a:defRPr sz="1300">
                <a:solidFill>
                  <a:srgbClr val="121A26"/>
                </a:solidFill>
                <a:latin typeface="Noto Sans TC"/>
                <a:ea typeface="Noto Sans TC"/>
                <a:cs typeface="Noto Sans TC"/>
                <a:sym typeface="Noto Sans TC"/>
              </a:defRPr>
            </a:lvl3pPr>
            <a:lvl4pPr lvl="3" algn="r">
              <a:buNone/>
              <a:defRPr sz="1300">
                <a:solidFill>
                  <a:srgbClr val="121A26"/>
                </a:solidFill>
                <a:latin typeface="Noto Sans TC"/>
                <a:ea typeface="Noto Sans TC"/>
                <a:cs typeface="Noto Sans TC"/>
                <a:sym typeface="Noto Sans TC"/>
              </a:defRPr>
            </a:lvl4pPr>
            <a:lvl5pPr lvl="4" algn="r">
              <a:buNone/>
              <a:defRPr sz="1300">
                <a:solidFill>
                  <a:srgbClr val="121A26"/>
                </a:solidFill>
                <a:latin typeface="Noto Sans TC"/>
                <a:ea typeface="Noto Sans TC"/>
                <a:cs typeface="Noto Sans TC"/>
                <a:sym typeface="Noto Sans TC"/>
              </a:defRPr>
            </a:lvl5pPr>
            <a:lvl6pPr lvl="5" algn="r">
              <a:buNone/>
              <a:defRPr sz="1300">
                <a:solidFill>
                  <a:srgbClr val="121A26"/>
                </a:solidFill>
                <a:latin typeface="Noto Sans TC"/>
                <a:ea typeface="Noto Sans TC"/>
                <a:cs typeface="Noto Sans TC"/>
                <a:sym typeface="Noto Sans TC"/>
              </a:defRPr>
            </a:lvl6pPr>
            <a:lvl7pPr lvl="6" algn="r">
              <a:buNone/>
              <a:defRPr sz="1300">
                <a:solidFill>
                  <a:srgbClr val="121A26"/>
                </a:solidFill>
                <a:latin typeface="Noto Sans TC"/>
                <a:ea typeface="Noto Sans TC"/>
                <a:cs typeface="Noto Sans TC"/>
                <a:sym typeface="Noto Sans TC"/>
              </a:defRPr>
            </a:lvl7pPr>
            <a:lvl8pPr lvl="7" algn="r">
              <a:buNone/>
              <a:defRPr sz="1300">
                <a:solidFill>
                  <a:srgbClr val="121A26"/>
                </a:solidFill>
                <a:latin typeface="Noto Sans TC"/>
                <a:ea typeface="Noto Sans TC"/>
                <a:cs typeface="Noto Sans TC"/>
                <a:sym typeface="Noto Sans TC"/>
              </a:defRPr>
            </a:lvl8pPr>
            <a:lvl9pPr lvl="8" algn="r">
              <a:buNone/>
              <a:defRPr sz="1300">
                <a:solidFill>
                  <a:srgbClr val="121A26"/>
                </a:solidFill>
                <a:latin typeface="Noto Sans TC"/>
                <a:ea typeface="Noto Sans TC"/>
                <a:cs typeface="Noto Sans TC"/>
                <a:sym typeface="Noto Sans T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jpg"/><Relationship Id="rId4" Type="http://schemas.openxmlformats.org/officeDocument/2006/relationships/hyperlink" Target="http://drive.google.com/file/d/1SXbO7VuRps6AHRWqoOuCj9sftzvSp1ve/view" TargetMode="External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hyperlink" Target="http://drive.google.com/file/d/1jrOTdw2pW2k_k_3vnQDIiWH-C3zTz416/view" TargetMode="External"/><Relationship Id="rId5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"/>
          <p:cNvSpPr/>
          <p:nvPr/>
        </p:nvSpPr>
        <p:spPr>
          <a:xfrm>
            <a:off x="0" y="0"/>
            <a:ext cx="12192001" cy="1778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0" y="6680200"/>
            <a:ext cx="12192001" cy="1778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22" name="Google Shape;22;p1"/>
          <p:cNvSpPr txBox="1"/>
          <p:nvPr>
            <p:ph type="title"/>
          </p:nvPr>
        </p:nvSpPr>
        <p:spPr>
          <a:xfrm>
            <a:off x="1240225" y="2887950"/>
            <a:ext cx="9810900" cy="10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3200"/>
              <a:buFont typeface="Noto Sans TC"/>
              <a:buNone/>
            </a:pPr>
            <a:r>
              <a:rPr b="1" lang="en-US" sz="3200">
                <a:solidFill>
                  <a:srgbClr val="1F3A5F"/>
                </a:solidFill>
              </a:rPr>
              <a:t>N-body粒子碰撞偵測之方法比較與模擬展示</a:t>
            </a:r>
            <a:endParaRPr sz="3200"/>
          </a:p>
        </p:txBody>
      </p:sp>
      <p:pic>
        <p:nvPicPr>
          <p:cNvPr descr="line" id="23" name="Google Shape;2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8500" y="3454400"/>
            <a:ext cx="5715000" cy="1905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1"/>
          <p:cNvSpPr/>
          <p:nvPr/>
        </p:nvSpPr>
        <p:spPr>
          <a:xfrm>
            <a:off x="4229100" y="4267200"/>
            <a:ext cx="3733800" cy="6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3E4A57"/>
              </a:buClr>
              <a:buSzPts val="1500"/>
              <a:buFont typeface="Noto Sans TC"/>
              <a:buNone/>
            </a:pPr>
            <a:r>
              <a:rPr lang="en-US" sz="1500">
                <a:solidFill>
                  <a:srgbClr val="3E4A57"/>
                </a:solidFill>
                <a:latin typeface="Noto Sans TC"/>
                <a:ea typeface="Noto Sans TC"/>
                <a:cs typeface="Noto Sans TC"/>
                <a:sym typeface="Noto Sans TC"/>
              </a:rPr>
              <a:t>11220105 楊耀甯　11227203 謝采凌</a:t>
            </a:r>
            <a:br>
              <a:rPr lang="en-US" sz="1500">
                <a:solidFill>
                  <a:srgbClr val="3E4A57"/>
                </a:solidFill>
                <a:latin typeface="Noto Sans TC"/>
                <a:ea typeface="Noto Sans TC"/>
                <a:cs typeface="Noto Sans TC"/>
                <a:sym typeface="Noto Sans TC"/>
              </a:rPr>
            </a:br>
            <a:br>
              <a:rPr lang="en-US" sz="1500">
                <a:solidFill>
                  <a:srgbClr val="3E4A57"/>
                </a:solidFill>
                <a:latin typeface="Noto Sans TC"/>
                <a:ea typeface="Noto Sans TC"/>
                <a:cs typeface="Noto Sans TC"/>
                <a:sym typeface="Noto Sans TC"/>
              </a:rPr>
            </a:br>
            <a:endParaRPr sz="1500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25" name="Google Shape;25;p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"/>
          <p:cNvSpPr/>
          <p:nvPr/>
        </p:nvSpPr>
        <p:spPr>
          <a:xfrm>
            <a:off x="0" y="0"/>
            <a:ext cx="12192001" cy="9550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32" name="Google Shape;32;p2"/>
          <p:cNvSpPr txBox="1"/>
          <p:nvPr>
            <p:ph type="title"/>
          </p:nvPr>
        </p:nvSpPr>
        <p:spPr>
          <a:xfrm>
            <a:off x="0" y="0"/>
            <a:ext cx="12192001" cy="955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0" lIns="812800" spcFirstLastPara="1" rIns="495800" wrap="square" tIns="2794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Noto Sans TC"/>
              <a:buNone/>
            </a:pPr>
            <a:r>
              <a:rPr b="1" i="0" lang="en-US" sz="2600">
                <a:solidFill>
                  <a:srgbClr val="FFFFFF"/>
                </a:solidFill>
                <a:latin typeface="Noto Sans TC"/>
                <a:ea typeface="Noto Sans TC"/>
                <a:cs typeface="Noto Sans TC"/>
                <a:sym typeface="Noto Sans TC"/>
              </a:rPr>
              <a:t>目錄</a:t>
            </a:r>
            <a:endParaRPr sz="2600"/>
          </a:p>
        </p:txBody>
      </p:sp>
      <p:sp>
        <p:nvSpPr>
          <p:cNvPr id="33" name="Google Shape;33;p2"/>
          <p:cNvSpPr/>
          <p:nvPr/>
        </p:nvSpPr>
        <p:spPr>
          <a:xfrm>
            <a:off x="825130" y="1460501"/>
            <a:ext cx="10863300" cy="28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41670" lvl="0" marL="24167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121A26"/>
              </a:buClr>
              <a:buSzPts val="1800"/>
              <a:buFont typeface="Noto Sans TC"/>
              <a:buAutoNum type="arabicPeriod"/>
            </a:pPr>
            <a:r>
              <a:rPr lang="en-US" sz="1800">
                <a:solidFill>
                  <a:srgbClr val="121A26"/>
                </a:solidFill>
                <a:latin typeface="Noto Sans TC"/>
                <a:ea typeface="Noto Sans TC"/>
                <a:cs typeface="Noto Sans TC"/>
                <a:sym typeface="Noto Sans TC"/>
              </a:rPr>
              <a:t>研究背景 &amp; </a:t>
            </a:r>
            <a:r>
              <a:rPr lang="en-US" sz="1800">
                <a:solidFill>
                  <a:srgbClr val="121A26"/>
                </a:solidFill>
                <a:latin typeface="Noto Sans TC"/>
                <a:ea typeface="Noto Sans TC"/>
                <a:cs typeface="Noto Sans TC"/>
                <a:sym typeface="Noto Sans TC"/>
              </a:rPr>
              <a:t>研究動機</a:t>
            </a:r>
            <a:endParaRPr sz="1800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-241670" lvl="0" marL="24167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121A26"/>
              </a:buClr>
              <a:buSzPts val="1800"/>
              <a:buFont typeface="Noto Sans TC"/>
              <a:buAutoNum type="arabicPeriod"/>
            </a:pPr>
            <a:r>
              <a:rPr lang="en-US" sz="1800">
                <a:solidFill>
                  <a:srgbClr val="121A26"/>
                </a:solidFill>
                <a:latin typeface="Noto Sans TC"/>
                <a:ea typeface="Noto Sans TC"/>
                <a:cs typeface="Noto Sans TC"/>
                <a:sym typeface="Noto Sans TC"/>
              </a:rPr>
              <a:t>研究目標</a:t>
            </a:r>
            <a:endParaRPr sz="1800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-241670" lvl="0" marL="24167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121A26"/>
              </a:buClr>
              <a:buSzPts val="1800"/>
              <a:buFont typeface="Noto Sans TC"/>
              <a:buAutoNum type="arabicPeriod"/>
            </a:pPr>
            <a:r>
              <a:rPr lang="en-US" sz="1800">
                <a:solidFill>
                  <a:srgbClr val="121A26"/>
                </a:solidFill>
                <a:latin typeface="Noto Sans TC"/>
                <a:ea typeface="Noto Sans TC"/>
                <a:cs typeface="Noto Sans TC"/>
                <a:sym typeface="Noto Sans TC"/>
              </a:rPr>
              <a:t>研究方法</a:t>
            </a:r>
            <a:endParaRPr sz="1800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-241670" lvl="0" marL="24167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121A26"/>
              </a:buClr>
              <a:buSzPts val="1800"/>
              <a:buFont typeface="Noto Sans TC"/>
              <a:buAutoNum type="arabicPeriod"/>
            </a:pPr>
            <a:r>
              <a:rPr lang="en-US" sz="1800">
                <a:solidFill>
                  <a:srgbClr val="121A26"/>
                </a:solidFill>
                <a:latin typeface="Noto Sans TC"/>
                <a:ea typeface="Noto Sans TC"/>
                <a:cs typeface="Noto Sans TC"/>
                <a:sym typeface="Noto Sans TC"/>
              </a:rPr>
              <a:t>實驗</a:t>
            </a:r>
            <a:endParaRPr sz="1800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-241670" lvl="0" marL="24167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121A26"/>
              </a:buClr>
              <a:buSzPts val="1800"/>
              <a:buFont typeface="Noto Sans TC"/>
              <a:buAutoNum type="arabicPeriod"/>
            </a:pPr>
            <a:r>
              <a:rPr lang="en-US" sz="1800">
                <a:solidFill>
                  <a:srgbClr val="121A26"/>
                </a:solidFill>
                <a:latin typeface="Noto Sans TC"/>
                <a:ea typeface="Noto Sans TC"/>
                <a:cs typeface="Noto Sans TC"/>
                <a:sym typeface="Noto Sans TC"/>
              </a:rPr>
              <a:t>結論</a:t>
            </a:r>
            <a:endParaRPr sz="1800">
              <a:solidFill>
                <a:srgbClr val="121A26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-241670" lvl="0" marL="24167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121A26"/>
              </a:buClr>
              <a:buSzPts val="1800"/>
              <a:buFont typeface="Noto Sans TC"/>
              <a:buAutoNum type="arabicPeriod"/>
            </a:pPr>
            <a:r>
              <a:rPr lang="en-US" sz="1800">
                <a:solidFill>
                  <a:srgbClr val="121A26"/>
                </a:solidFill>
                <a:latin typeface="Noto Sans TC"/>
                <a:ea typeface="Noto Sans TC"/>
                <a:cs typeface="Noto Sans TC"/>
                <a:sym typeface="Noto Sans TC"/>
              </a:rPr>
              <a:t>專題DEMO呈現</a:t>
            </a:r>
            <a:endParaRPr sz="1800">
              <a:solidFill>
                <a:srgbClr val="121A26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0" lvl="0" marL="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0" lvl="0" marL="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34" name="Google Shape;34;p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5" name="Google Shape;35;p2"/>
          <p:cNvGrpSpPr/>
          <p:nvPr/>
        </p:nvGrpSpPr>
        <p:grpSpPr>
          <a:xfrm>
            <a:off x="6248651" y="4874971"/>
            <a:ext cx="5348888" cy="1923026"/>
            <a:chOff x="5237028" y="4653812"/>
            <a:chExt cx="5732385" cy="2060900"/>
          </a:xfrm>
        </p:grpSpPr>
        <p:pic>
          <p:nvPicPr>
            <p:cNvPr id="36" name="Google Shape;36;p2" title="Untitled.jpe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908513" y="4653812"/>
              <a:ext cx="2060900" cy="2060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" name="Google Shape;37;p2"/>
            <p:cNvSpPr txBox="1"/>
            <p:nvPr/>
          </p:nvSpPr>
          <p:spPr>
            <a:xfrm>
              <a:off x="5313175" y="6410232"/>
              <a:ext cx="3155700" cy="24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2100" lIns="52100" spcFirstLastPara="1" rIns="52100" wrap="square" tIns="5210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98">
                  <a:solidFill>
                    <a:srgbClr val="999999"/>
                  </a:solidFill>
                </a:rPr>
                <a:t>https://shanny11shanny14-sys.github.io/2026-10-24_Nbody._./</a:t>
              </a:r>
              <a:endParaRPr sz="798">
                <a:solidFill>
                  <a:srgbClr val="999999"/>
                </a:solidFill>
              </a:endParaRPr>
            </a:p>
          </p:txBody>
        </p:sp>
        <p:sp>
          <p:nvSpPr>
            <p:cNvPr id="38" name="Google Shape;38;p2"/>
            <p:cNvSpPr txBox="1"/>
            <p:nvPr/>
          </p:nvSpPr>
          <p:spPr>
            <a:xfrm>
              <a:off x="5237028" y="5821625"/>
              <a:ext cx="3825000" cy="51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8575" lIns="88575" spcFirstLastPara="1" rIns="88575" wrap="square" tIns="8857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938">
                  <a:solidFill>
                    <a:srgbClr val="121A26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這是我們Demo的QRcode→</a:t>
              </a:r>
              <a:endParaRPr b="1" sz="1938">
                <a:solidFill>
                  <a:srgbClr val="121A26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pic>
        <p:nvPicPr>
          <p:cNvPr id="39" name="Google Shape;39;p2" title="煙火演示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61050" y="1038375"/>
            <a:ext cx="6736500" cy="375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h284909d5204ed4f7_0_32"/>
          <p:cNvSpPr/>
          <p:nvPr/>
        </p:nvSpPr>
        <p:spPr>
          <a:xfrm>
            <a:off x="0" y="0"/>
            <a:ext cx="12192000" cy="9549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46" name="Google Shape;46;h284909d5204ed4f7_0_32"/>
          <p:cNvSpPr txBox="1"/>
          <p:nvPr>
            <p:ph type="title"/>
          </p:nvPr>
        </p:nvSpPr>
        <p:spPr>
          <a:xfrm>
            <a:off x="0" y="0"/>
            <a:ext cx="12192000" cy="9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0" lIns="812800" spcFirstLastPara="1" rIns="495800" wrap="square" tIns="2794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Noto Sans TC"/>
              <a:buNone/>
            </a:pPr>
            <a:r>
              <a:rPr b="1" lang="en-US">
                <a:solidFill>
                  <a:srgbClr val="FFFFFF"/>
                </a:solidFill>
              </a:rPr>
              <a:t>1.研究背景 &amp; 研究動機</a:t>
            </a:r>
            <a:endParaRPr sz="2600"/>
          </a:p>
        </p:txBody>
      </p:sp>
      <p:sp>
        <p:nvSpPr>
          <p:cNvPr id="47" name="Google Shape;47;h284909d5204ed4f7_0_32"/>
          <p:cNvSpPr/>
          <p:nvPr/>
        </p:nvSpPr>
        <p:spPr>
          <a:xfrm>
            <a:off x="227775" y="1742150"/>
            <a:ext cx="6570300" cy="43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B3A5C"/>
                </a:solidFill>
                <a:latin typeface="Noto Sans TC"/>
                <a:ea typeface="Noto Sans TC"/>
                <a:cs typeface="Noto Sans TC"/>
                <a:sym typeface="Noto Sans TC"/>
              </a:rPr>
              <a:t>N-body 模擬</a:t>
            </a:r>
            <a:endParaRPr b="1" sz="1800">
              <a:solidFill>
                <a:srgbClr val="2B3A5C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•</a:t>
            </a:r>
            <a:r>
              <a:rPr lang="en-US" sz="1600">
                <a:solidFill>
                  <a:srgbClr val="222222"/>
                </a:solidFill>
                <a:latin typeface="Noto Sans TC"/>
                <a:ea typeface="Noto Sans TC"/>
                <a:cs typeface="Noto Sans TC"/>
                <a:sym typeface="Noto Sans TC"/>
              </a:rPr>
              <a:t>以電腦計算大量粒子在交互作用下隨時間的運動</a:t>
            </a:r>
            <a:endParaRPr sz="1600">
              <a:solidFill>
                <a:srgbClr val="222222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/>
              <a:t>•</a:t>
            </a:r>
            <a:r>
              <a:rPr lang="en-US" sz="1600">
                <a:solidFill>
                  <a:srgbClr val="222222"/>
                </a:solidFill>
                <a:latin typeface="Noto Sans TC"/>
                <a:ea typeface="Noto Sans TC"/>
                <a:cs typeface="Noto Sans TC"/>
                <a:sym typeface="Noto Sans TC"/>
              </a:rPr>
              <a:t>應用：天文（行星環）、分子動力學、顆粒材料、遊戲與動畫特效（如煙火）</a:t>
            </a:r>
            <a:endParaRPr sz="1600">
              <a:solidFill>
                <a:srgbClr val="222222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B3A5C"/>
                </a:solidFill>
                <a:latin typeface="Noto Sans TC"/>
                <a:ea typeface="Noto Sans TC"/>
                <a:cs typeface="Noto Sans TC"/>
                <a:sym typeface="Noto Sans TC"/>
              </a:rPr>
              <a:t>碰撞偵測(Collision Detection)是核心步驟</a:t>
            </a:r>
            <a:endParaRPr b="1" sz="1800">
              <a:solidFill>
                <a:srgbClr val="2B3A5C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•</a:t>
            </a:r>
            <a:r>
              <a:rPr lang="en-US" sz="1600">
                <a:solidFill>
                  <a:srgbClr val="222222"/>
                </a:solidFill>
                <a:latin typeface="Noto Sans TC"/>
                <a:ea typeface="Noto Sans TC"/>
                <a:cs typeface="Noto Sans TC"/>
                <a:sym typeface="Noto Sans TC"/>
              </a:rPr>
              <a:t>每個時間步都要找出所有互相接觸的粒子</a:t>
            </a:r>
            <a:endParaRPr sz="1600">
              <a:solidFill>
                <a:srgbClr val="222222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/>
              <a:t>•</a:t>
            </a:r>
            <a:r>
              <a:rPr lang="en-US" sz="1600">
                <a:solidFill>
                  <a:srgbClr val="222222"/>
                </a:solidFill>
                <a:latin typeface="Noto Sans TC"/>
                <a:ea typeface="Noto Sans TC"/>
                <a:cs typeface="Noto Sans TC"/>
                <a:sym typeface="Noto Sans TC"/>
              </a:rPr>
              <a:t>暴力法兩兩比對：O(N²)，粒子數加倍，計算量約變為四倍</a:t>
            </a:r>
            <a:endParaRPr sz="1600">
              <a:solidFill>
                <a:srgbClr val="222222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B3A5C"/>
                </a:solidFill>
                <a:latin typeface="Noto Sans TC"/>
                <a:ea typeface="Noto Sans TC"/>
                <a:cs typeface="Noto Sans TC"/>
                <a:sym typeface="Noto Sans TC"/>
              </a:rPr>
              <a:t>現行的加速做法</a:t>
            </a:r>
            <a:endParaRPr b="1" sz="1800">
              <a:solidFill>
                <a:srgbClr val="2B3A5C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•</a:t>
            </a:r>
            <a:r>
              <a:rPr lang="en-US" sz="1600">
                <a:solidFill>
                  <a:srgbClr val="222222"/>
                </a:solidFill>
                <a:latin typeface="Noto Sans TC"/>
                <a:ea typeface="Noto Sans TC"/>
                <a:cs typeface="Noto Sans TC"/>
                <a:sym typeface="Noto Sans TC"/>
              </a:rPr>
              <a:t>空間：Uniform Grid（均勻網格），只搜尋鄰近方格內的粒子</a:t>
            </a:r>
            <a:endParaRPr sz="1600">
              <a:solidFill>
                <a:srgbClr val="222222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/>
              <a:t>•</a:t>
            </a:r>
            <a:r>
              <a:rPr lang="en-US" sz="1600">
                <a:solidFill>
                  <a:srgbClr val="222222"/>
                </a:solidFill>
                <a:latin typeface="Noto Sans TC"/>
                <a:ea typeface="Noto Sans TC"/>
                <a:cs typeface="Noto Sans TC"/>
                <a:sym typeface="Noto Sans TC"/>
              </a:rPr>
              <a:t>時間：Verlet List，在粒子周圍預留緩衝距離（skin），鄰居資訊可沿用多個時間步</a:t>
            </a:r>
            <a:endParaRPr sz="1600">
              <a:solidFill>
                <a:srgbClr val="222222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0" lvl="0" marL="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0" lvl="0" marL="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0" lvl="0" marL="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48" name="Google Shape;48;h284909d5204ed4f7_0_32"/>
          <p:cNvSpPr/>
          <p:nvPr/>
        </p:nvSpPr>
        <p:spPr>
          <a:xfrm>
            <a:off x="812800" y="6365241"/>
            <a:ext cx="34944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B78"/>
              </a:buClr>
              <a:buSzPts val="1200"/>
              <a:buFont typeface="Noto Sans TC"/>
              <a:buNone/>
            </a:pPr>
            <a:r>
              <a:rPr lang="en-US" sz="1200">
                <a:solidFill>
                  <a:srgbClr val="5F6B78"/>
                </a:solidFill>
                <a:latin typeface="Noto Sans TC"/>
                <a:ea typeface="Noto Sans TC"/>
                <a:cs typeface="Noto Sans TC"/>
                <a:sym typeface="Noto Sans TC"/>
              </a:rPr>
              <a:t>N-body 粒子碰撞偵測系統 · 專題成果簡報</a:t>
            </a:r>
            <a:endParaRPr sz="1200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49" name="Google Shape;49;h284909d5204ed4f7_0_3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" name="Google Shape;50;h284909d5204ed4f7_0_32"/>
          <p:cNvSpPr txBox="1"/>
          <p:nvPr/>
        </p:nvSpPr>
        <p:spPr>
          <a:xfrm>
            <a:off x="119275" y="1107300"/>
            <a:ext cx="3452700" cy="9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21A26"/>
                </a:solidFill>
                <a:latin typeface="Noto Sans TC"/>
                <a:ea typeface="Noto Sans TC"/>
                <a:cs typeface="Noto Sans TC"/>
                <a:sym typeface="Noto Sans TC"/>
              </a:rPr>
              <a:t>研究背景</a:t>
            </a:r>
            <a:endParaRPr sz="2400">
              <a:solidFill>
                <a:srgbClr val="121A26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pic>
        <p:nvPicPr>
          <p:cNvPr id="51" name="Google Shape;51;h284909d5204ed4f7_0_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23294" y="1742150"/>
            <a:ext cx="5366531" cy="3727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"/>
          <p:cNvSpPr/>
          <p:nvPr/>
        </p:nvSpPr>
        <p:spPr>
          <a:xfrm>
            <a:off x="0" y="0"/>
            <a:ext cx="12192001" cy="9550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58" name="Google Shape;58;p3"/>
          <p:cNvSpPr txBox="1"/>
          <p:nvPr>
            <p:ph type="title"/>
          </p:nvPr>
        </p:nvSpPr>
        <p:spPr>
          <a:xfrm>
            <a:off x="0" y="0"/>
            <a:ext cx="12192001" cy="955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0" lIns="812800" spcFirstLastPara="1" rIns="495800" wrap="square" tIns="2794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FFFF"/>
                </a:solidFill>
              </a:rPr>
              <a:t>1.研究背景 &amp; </a:t>
            </a:r>
            <a:r>
              <a:rPr b="1" i="0" lang="en-US" sz="2600">
                <a:solidFill>
                  <a:srgbClr val="FFFFFF"/>
                </a:solidFill>
                <a:latin typeface="Noto Sans TC"/>
                <a:ea typeface="Noto Sans TC"/>
                <a:cs typeface="Noto Sans TC"/>
                <a:sym typeface="Noto Sans TC"/>
              </a:rPr>
              <a:t>研究動機</a:t>
            </a:r>
            <a:endParaRPr sz="2600"/>
          </a:p>
        </p:txBody>
      </p:sp>
      <p:grpSp>
        <p:nvGrpSpPr>
          <p:cNvPr id="59" name="Google Shape;59;p3"/>
          <p:cNvGrpSpPr/>
          <p:nvPr/>
        </p:nvGrpSpPr>
        <p:grpSpPr>
          <a:xfrm>
            <a:off x="7400237" y="955040"/>
            <a:ext cx="4354017" cy="2864485"/>
            <a:chOff x="6928250" y="955052"/>
            <a:chExt cx="4826000" cy="3175000"/>
          </a:xfrm>
        </p:grpSpPr>
        <p:pic>
          <p:nvPicPr>
            <p:cNvPr descr="情境示意：左半部粒子密集群聚，右半部粒子稀疏且有少數高速粒子" id="60" name="Google Shape;60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928250" y="955052"/>
              <a:ext cx="4826000" cy="317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3"/>
            <p:cNvSpPr/>
            <p:nvPr/>
          </p:nvSpPr>
          <p:spPr>
            <a:xfrm>
              <a:off x="7025429" y="1045751"/>
              <a:ext cx="2158500" cy="47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rmAutofit/>
            </a:bodyPr>
            <a:lstStyle/>
            <a:p>
              <a:pPr indent="0" lvl="0" marL="0" marR="0" rtl="0" algn="l">
                <a:lnSpc>
                  <a:spcPct val="13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B64A8"/>
                </a:buClr>
                <a:buSzPts val="1173"/>
                <a:buFont typeface="Noto Sans TC"/>
                <a:buNone/>
              </a:pPr>
              <a:r>
                <a:rPr b="1" lang="en-US" sz="1173">
                  <a:solidFill>
                    <a:srgbClr val="2B64A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密度異質</a:t>
              </a:r>
              <a:endParaRPr sz="1173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indent="0" lvl="0" marL="0" marR="0" rtl="0" algn="l">
                <a:lnSpc>
                  <a:spcPct val="13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B64A8"/>
                </a:buClr>
                <a:buSzPts val="1173"/>
                <a:buFont typeface="Noto Sans TC"/>
                <a:buNone/>
              </a:pPr>
              <a:r>
                <a:rPr b="1" lang="en-US" sz="1173">
                  <a:solidFill>
                    <a:srgbClr val="2B64A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群聚處候選暴增</a:t>
              </a:r>
              <a:endParaRPr sz="1173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62" name="Google Shape;62;p3"/>
            <p:cNvSpPr/>
            <p:nvPr/>
          </p:nvSpPr>
          <p:spPr>
            <a:xfrm>
              <a:off x="9501930" y="1045751"/>
              <a:ext cx="2158500" cy="47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rmAutofit/>
            </a:bodyPr>
            <a:lstStyle/>
            <a:p>
              <a:pPr indent="0" lvl="0" marL="0" marR="0" rtl="0" algn="l">
                <a:lnSpc>
                  <a:spcPct val="13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85E12"/>
                </a:buClr>
                <a:buSzPts val="1173"/>
                <a:buFont typeface="Noto Sans TC"/>
                <a:buNone/>
              </a:pPr>
              <a:r>
                <a:rPr b="1" lang="en-US" sz="1173">
                  <a:solidFill>
                    <a:srgbClr val="B85E1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速度異質</a:t>
              </a:r>
              <a:endParaRPr sz="1173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indent="0" lvl="0" marL="0" marR="0" rtl="0" algn="l">
                <a:lnSpc>
                  <a:spcPct val="13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85E12"/>
                </a:buClr>
                <a:buSzPts val="1173"/>
                <a:buFont typeface="Noto Sans TC"/>
                <a:buNone/>
              </a:pPr>
              <a:r>
                <a:rPr b="1" lang="en-US" sz="1173">
                  <a:solidFill>
                    <a:srgbClr val="B85E1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高速粒子觸發重建</a:t>
              </a:r>
              <a:endParaRPr sz="1173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sp>
        <p:nvSpPr>
          <p:cNvPr id="63" name="Google Shape;63;p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4" name="Google Shape;64;p3"/>
          <p:cNvSpPr txBox="1"/>
          <p:nvPr/>
        </p:nvSpPr>
        <p:spPr>
          <a:xfrm>
            <a:off x="404725" y="1206450"/>
            <a:ext cx="2916900" cy="7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21A26"/>
                </a:solidFill>
                <a:latin typeface="Noto Sans TC"/>
                <a:ea typeface="Noto Sans TC"/>
                <a:cs typeface="Noto Sans TC"/>
                <a:sym typeface="Noto Sans TC"/>
              </a:rPr>
              <a:t>研究動機</a:t>
            </a:r>
            <a:endParaRPr sz="2400">
              <a:solidFill>
                <a:srgbClr val="121A26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404725" y="1682850"/>
            <a:ext cx="5516400" cy="39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222222"/>
                </a:solidFill>
                <a:latin typeface="Noto Sans TC"/>
                <a:ea typeface="Noto Sans TC"/>
                <a:cs typeface="Noto Sans TC"/>
                <a:sym typeface="Noto Sans TC"/>
              </a:rPr>
              <a:t>真實的粒子系統往往不均勻：</a:t>
            </a:r>
            <a:endParaRPr b="1" sz="1900">
              <a:solidFill>
                <a:srgbClr val="222222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22222"/>
                </a:solidFill>
                <a:latin typeface="Noto Sans TC"/>
                <a:ea typeface="Noto Sans TC"/>
                <a:cs typeface="Noto Sans TC"/>
                <a:sym typeface="Noto Sans TC"/>
              </a:rPr>
              <a:t>例如煙火炸開時由密變疏，火花有快有慢</a:t>
            </a:r>
            <a:endParaRPr sz="1800">
              <a:solidFill>
                <a:srgbClr val="222222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222222"/>
                </a:solidFill>
                <a:latin typeface="Noto Sans TC"/>
                <a:ea typeface="Noto Sans TC"/>
                <a:cs typeface="Noto Sans TC"/>
                <a:sym typeface="Noto Sans TC"/>
              </a:rPr>
              <a:t>然而，現行做法無法依此自適應</a:t>
            </a:r>
            <a:endParaRPr b="1" sz="1900">
              <a:solidFill>
                <a:srgbClr val="222222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3D63A8"/>
                </a:solidFill>
                <a:latin typeface="Noto Sans TC"/>
                <a:ea typeface="Noto Sans TC"/>
                <a:cs typeface="Noto Sans TC"/>
                <a:sym typeface="Noto Sans TC"/>
              </a:rPr>
              <a:t>密度異質</a:t>
            </a:r>
            <a:endParaRPr b="1" sz="2000">
              <a:solidFill>
                <a:srgbClr val="3D63A8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22222"/>
                </a:solidFill>
                <a:latin typeface="Noto Sans TC"/>
                <a:ea typeface="Noto Sans TC"/>
                <a:cs typeface="Noto Sans TC"/>
                <a:sym typeface="Noto Sans TC"/>
              </a:rPr>
              <a:t>方格大小固定，粒子群聚處單一方格擠滿粒子，候選配對數量暴增。</a:t>
            </a:r>
            <a:endParaRPr sz="1800">
              <a:solidFill>
                <a:srgbClr val="222222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22222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B5652A"/>
                </a:solidFill>
                <a:latin typeface="Noto Sans TC"/>
                <a:ea typeface="Noto Sans TC"/>
                <a:cs typeface="Noto Sans TC"/>
                <a:sym typeface="Noto Sans TC"/>
              </a:rPr>
              <a:t>速度異質</a:t>
            </a:r>
            <a:endParaRPr b="1" sz="2000">
              <a:solidFill>
                <a:srgbClr val="B5652A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22222"/>
                </a:solidFill>
                <a:latin typeface="Noto Sans TC"/>
                <a:ea typeface="Noto Sans TC"/>
                <a:cs typeface="Noto Sans TC"/>
                <a:sym typeface="Noto Sans TC"/>
              </a:rPr>
              <a:t>緩衝距離所有粒子都相同，少數高速粒子很快越出緩衝範圍，迫使空間結構頻繁重建。</a:t>
            </a:r>
            <a:endParaRPr sz="1800">
              <a:solidFill>
                <a:srgbClr val="222222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22222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50">
                <a:solidFill>
                  <a:srgbClr val="222222"/>
                </a:solidFill>
                <a:latin typeface="Noto Sans TC"/>
                <a:ea typeface="Noto Sans TC"/>
                <a:cs typeface="Noto Sans TC"/>
                <a:sym typeface="Noto Sans TC"/>
              </a:rPr>
              <a:t>因此，本研究希望讓空間劃分與緩衝距離</a:t>
            </a:r>
            <a:r>
              <a:rPr b="1" lang="en-US" sz="1850">
                <a:solidFill>
                  <a:srgbClr val="2B3A5C"/>
                </a:solidFill>
                <a:latin typeface="Noto Sans TC"/>
                <a:ea typeface="Noto Sans TC"/>
                <a:cs typeface="Noto Sans TC"/>
                <a:sym typeface="Noto Sans TC"/>
              </a:rPr>
              <a:t>能依粒子的疏密與快慢自動調整</a:t>
            </a:r>
            <a:endParaRPr b="1" sz="1850">
              <a:solidFill>
                <a:srgbClr val="2B3A5C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21A26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pic>
        <p:nvPicPr>
          <p:cNvPr id="66" name="Google Shape;66;p3" title="暴力法演示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48100" y="4003050"/>
            <a:ext cx="5606151" cy="2715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"/>
          <p:cNvSpPr/>
          <p:nvPr/>
        </p:nvSpPr>
        <p:spPr>
          <a:xfrm>
            <a:off x="0" y="0"/>
            <a:ext cx="12192001" cy="9550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 anchorCtr="0" anchor="t" bIns="254000" lIns="812800" spcFirstLastPara="1" rIns="495800" wrap="square" tIns="2794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Noto Sans TC"/>
              <a:buNone/>
            </a:pPr>
            <a:r>
              <a:rPr b="1" lang="en-US" sz="2600">
                <a:solidFill>
                  <a:srgbClr val="FFFFFF"/>
                </a:solidFill>
                <a:latin typeface="Noto Sans TC"/>
                <a:ea typeface="Noto Sans TC"/>
                <a:cs typeface="Noto Sans TC"/>
                <a:sym typeface="Noto Sans TC"/>
              </a:rPr>
              <a:t>2.</a:t>
            </a:r>
            <a:r>
              <a:rPr b="1" lang="en-US" sz="2600">
                <a:solidFill>
                  <a:srgbClr val="FFFFFF"/>
                </a:solidFill>
                <a:latin typeface="Noto Sans TC"/>
                <a:ea typeface="Noto Sans TC"/>
                <a:cs typeface="Noto Sans TC"/>
                <a:sym typeface="Noto Sans TC"/>
              </a:rPr>
              <a:t>研究目標</a:t>
            </a:r>
            <a:endParaRPr sz="2600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654300" y="1379128"/>
            <a:ext cx="10883400" cy="45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1A26"/>
              </a:buClr>
              <a:buSzPts val="2600"/>
              <a:buFont typeface="Noto Sans TC"/>
              <a:buNone/>
            </a:pPr>
            <a:r>
              <a:rPr b="1" lang="en-US" sz="2600">
                <a:solidFill>
                  <a:srgbClr val="121A26"/>
                </a:solidFill>
                <a:latin typeface="Noto Sans TC"/>
                <a:ea typeface="Noto Sans TC"/>
                <a:cs typeface="Noto Sans TC"/>
                <a:sym typeface="Noto Sans TC"/>
              </a:rPr>
              <a:t>1.引入 Octree 空間自適應機制</a:t>
            </a:r>
            <a:r>
              <a:rPr lang="en-US" sz="2600">
                <a:solidFill>
                  <a:srgbClr val="121A26"/>
                </a:solidFill>
                <a:latin typeface="Noto Sans TC"/>
                <a:ea typeface="Noto Sans TC"/>
                <a:cs typeface="Noto Sans TC"/>
                <a:sym typeface="Noto Sans TC"/>
              </a:rPr>
              <a:t> </a:t>
            </a:r>
            <a:endParaRPr sz="2600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1A26"/>
              </a:buClr>
              <a:buSzPts val="2600"/>
              <a:buFont typeface="Noto Sans TC"/>
              <a:buNone/>
            </a:pPr>
            <a:r>
              <a:rPr lang="en-US" sz="2600">
                <a:solidFill>
                  <a:srgbClr val="121A26"/>
                </a:solidFill>
                <a:latin typeface="Noto Sans TC"/>
                <a:ea typeface="Noto Sans TC"/>
                <a:cs typeface="Noto Sans TC"/>
                <a:sym typeface="Noto Sans TC"/>
              </a:rPr>
              <a:t>依局部粒子密度動態細分葉節點，取代全域固定尺寸的 Uniform Grid</a:t>
            </a:r>
            <a:endParaRPr sz="2600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TC"/>
              <a:buNone/>
            </a:pPr>
            <a:r>
              <a:t/>
            </a:r>
            <a:endParaRPr sz="2600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1A26"/>
              </a:buClr>
              <a:buSzPts val="2600"/>
              <a:buFont typeface="Noto Sans TC"/>
              <a:buNone/>
            </a:pPr>
            <a:r>
              <a:rPr b="1" lang="en-US" sz="2600">
                <a:solidFill>
                  <a:srgbClr val="121A26"/>
                </a:solidFill>
                <a:latin typeface="Noto Sans TC"/>
                <a:ea typeface="Noto Sans TC"/>
                <a:cs typeface="Noto Sans TC"/>
                <a:sym typeface="Noto Sans TC"/>
              </a:rPr>
              <a:t>2.自適應 Verlet List／skin 機制</a:t>
            </a:r>
            <a:r>
              <a:rPr lang="en-US" sz="2600">
                <a:solidFill>
                  <a:srgbClr val="121A26"/>
                </a:solidFill>
                <a:latin typeface="Noto Sans TC"/>
                <a:ea typeface="Noto Sans TC"/>
                <a:cs typeface="Noto Sans TC"/>
                <a:sym typeface="Noto Sans TC"/>
              </a:rPr>
              <a:t> </a:t>
            </a:r>
            <a:endParaRPr sz="2600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1A26"/>
              </a:buClr>
              <a:buSzPts val="2600"/>
              <a:buFont typeface="Noto Sans TC"/>
              <a:buNone/>
            </a:pPr>
            <a:r>
              <a:rPr lang="en-US" sz="2600">
                <a:solidFill>
                  <a:srgbClr val="121A26"/>
                </a:solidFill>
                <a:latin typeface="Noto Sans TC"/>
                <a:ea typeface="Noto Sans TC"/>
                <a:cs typeface="Noto Sans TC"/>
                <a:sym typeface="Noto Sans TC"/>
              </a:rPr>
              <a:t>依粒子瞬時速度與加速度動態計算 skin，跨時間步沿用候選清單，減少空間結構重建</a:t>
            </a:r>
            <a:endParaRPr sz="2600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TC"/>
              <a:buNone/>
            </a:pPr>
            <a:r>
              <a:t/>
            </a:r>
            <a:endParaRPr sz="2600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1A26"/>
              </a:buClr>
              <a:buSzPts val="2600"/>
              <a:buFont typeface="Noto Sans TC"/>
              <a:buNone/>
            </a:pPr>
            <a:r>
              <a:rPr b="1" lang="en-US" sz="2600">
                <a:solidFill>
                  <a:srgbClr val="121A26"/>
                </a:solidFill>
                <a:latin typeface="Noto Sans TC"/>
                <a:ea typeface="Noto Sans TC"/>
                <a:cs typeface="Noto Sans TC"/>
                <a:sym typeface="Noto Sans TC"/>
              </a:rPr>
              <a:t>3.skin 上界機制</a:t>
            </a:r>
            <a:r>
              <a:rPr lang="en-US" sz="2600">
                <a:solidFill>
                  <a:srgbClr val="121A26"/>
                </a:solidFill>
                <a:latin typeface="Noto Sans TC"/>
                <a:ea typeface="Noto Sans TC"/>
                <a:cs typeface="Noto Sans TC"/>
                <a:sym typeface="Noto Sans TC"/>
              </a:rPr>
              <a:t> 以空間結構的幾何尺寸限制 skin 上界，避免漏判碰撞並抑制候選膨脹</a:t>
            </a:r>
            <a:r>
              <a:rPr lang="en-US" sz="2600">
                <a:solidFill>
                  <a:srgbClr val="121A26"/>
                </a:solidFill>
                <a:latin typeface="Noto Sans TC"/>
                <a:ea typeface="Noto Sans TC"/>
                <a:cs typeface="Noto Sans TC"/>
                <a:sym typeface="Noto Sans TC"/>
              </a:rPr>
              <a:t>，</a:t>
            </a:r>
            <a:r>
              <a:rPr lang="en-US" sz="2600">
                <a:solidFill>
                  <a:srgbClr val="121A26"/>
                </a:solidFill>
                <a:latin typeface="Noto Sans TC"/>
                <a:ea typeface="Noto Sans TC"/>
                <a:cs typeface="Noto Sans TC"/>
                <a:sym typeface="Noto Sans TC"/>
              </a:rPr>
              <a:t>以</a:t>
            </a:r>
            <a:r>
              <a:rPr lang="en-US" sz="2600">
                <a:solidFill>
                  <a:srgbClr val="FF0000"/>
                </a:solidFill>
                <a:latin typeface="Noto Sans TC"/>
                <a:ea typeface="Noto Sans TC"/>
                <a:cs typeface="Noto Sans TC"/>
                <a:sym typeface="Noto Sans TC"/>
              </a:rPr>
              <a:t>暴力法</a:t>
            </a:r>
            <a:r>
              <a:rPr lang="en-US" sz="2600">
                <a:solidFill>
                  <a:srgbClr val="121A26"/>
                </a:solidFill>
                <a:latin typeface="Noto Sans TC"/>
                <a:ea typeface="Noto Sans TC"/>
                <a:cs typeface="Noto Sans TC"/>
                <a:sym typeface="Noto Sans TC"/>
              </a:rPr>
              <a:t>逐</a:t>
            </a:r>
            <a:r>
              <a:rPr lang="en-US" sz="2600">
                <a:solidFill>
                  <a:srgbClr val="121A26"/>
                </a:solidFill>
                <a:latin typeface="Noto Sans TC"/>
                <a:ea typeface="Noto Sans TC"/>
                <a:cs typeface="Noto Sans TC"/>
                <a:sym typeface="Noto Sans TC"/>
              </a:rPr>
              <a:t>時間步</a:t>
            </a:r>
            <a:r>
              <a:rPr lang="en-US" sz="2600">
                <a:solidFill>
                  <a:srgbClr val="121A26"/>
                </a:solidFill>
                <a:latin typeface="Noto Sans TC"/>
                <a:ea typeface="Noto Sans TC"/>
                <a:cs typeface="Noto Sans TC"/>
                <a:sym typeface="Noto Sans TC"/>
              </a:rPr>
              <a:t>驗證</a:t>
            </a:r>
            <a:endParaRPr sz="2600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74" name="Google Shape;74;p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"/>
          <p:cNvSpPr/>
          <p:nvPr/>
        </p:nvSpPr>
        <p:spPr>
          <a:xfrm>
            <a:off x="0" y="0"/>
            <a:ext cx="12192001" cy="9550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81" name="Google Shape;81;p5"/>
          <p:cNvSpPr txBox="1"/>
          <p:nvPr>
            <p:ph type="title"/>
          </p:nvPr>
        </p:nvSpPr>
        <p:spPr>
          <a:xfrm>
            <a:off x="0" y="0"/>
            <a:ext cx="12192001" cy="955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0" lIns="812800" spcFirstLastPara="1" rIns="495800" wrap="square" tIns="2794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Noto Sans TC"/>
              <a:buNone/>
            </a:pPr>
            <a:r>
              <a:rPr b="1" lang="en-US">
                <a:solidFill>
                  <a:srgbClr val="FFFFFF"/>
                </a:solidFill>
              </a:rPr>
              <a:t>3.研究方法：</a:t>
            </a:r>
            <a:r>
              <a:rPr b="1" i="0" lang="en-US" sz="2600">
                <a:solidFill>
                  <a:srgbClr val="FFFFFF"/>
                </a:solidFill>
                <a:latin typeface="Noto Sans TC"/>
                <a:ea typeface="Noto Sans TC"/>
                <a:cs typeface="Noto Sans TC"/>
                <a:sym typeface="Noto Sans TC"/>
              </a:rPr>
              <a:t>系統架構 </a:t>
            </a:r>
            <a:r>
              <a:rPr b="1" lang="en-US">
                <a:solidFill>
                  <a:srgbClr val="FFFFFF"/>
                </a:solidFill>
              </a:rPr>
              <a:t>= </a:t>
            </a:r>
            <a:r>
              <a:rPr b="1" i="0" lang="en-US" sz="2600">
                <a:solidFill>
                  <a:srgbClr val="FFFFFF"/>
                </a:solidFill>
                <a:latin typeface="Noto Sans TC"/>
                <a:ea typeface="Noto Sans TC"/>
                <a:cs typeface="Noto Sans TC"/>
                <a:sym typeface="Noto Sans TC"/>
              </a:rPr>
              <a:t>空間分割 × 時間連貫性</a:t>
            </a:r>
            <a:endParaRPr sz="2600"/>
          </a:p>
        </p:txBody>
      </p:sp>
      <p:pic>
        <p:nvPicPr>
          <p:cNvPr descr="論文圖 1 實驗架構圖：Simulation 主控流程連接空間分割（Uniform Grid、Octree）與時間連貫性（計算 skin 值、判斷粒子位移是否超過 skin），兩者再共同連接到 skin 上界約束" id="82" name="Google Shape;82;p5"/>
          <p:cNvPicPr preferRelativeResize="0"/>
          <p:nvPr/>
        </p:nvPicPr>
        <p:blipFill rotWithShape="1">
          <a:blip r:embed="rId3">
            <a:alphaModFix/>
          </a:blip>
          <a:srcRect b="-1274" l="0" r="0" t="-1274"/>
          <a:stretch/>
        </p:blipFill>
        <p:spPr>
          <a:xfrm>
            <a:off x="812800" y="1460500"/>
            <a:ext cx="6223000" cy="346075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5"/>
          <p:cNvSpPr/>
          <p:nvPr/>
        </p:nvSpPr>
        <p:spPr>
          <a:xfrm>
            <a:off x="7367275" y="2276475"/>
            <a:ext cx="4365300" cy="18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01930" lvl="0" marL="20193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21A26"/>
              </a:buClr>
              <a:buSzPts val="1500"/>
              <a:buFont typeface="Noto Sans TC"/>
              <a:buChar char="•"/>
            </a:pPr>
            <a:r>
              <a:rPr b="1" lang="en-US" sz="1500">
                <a:solidFill>
                  <a:srgbClr val="121A26"/>
                </a:solidFill>
                <a:latin typeface="Noto Sans TC"/>
                <a:ea typeface="Noto Sans TC"/>
                <a:cs typeface="Noto Sans TC"/>
                <a:sym typeface="Noto Sans TC"/>
              </a:rPr>
              <a:t>空間分割</a:t>
            </a:r>
            <a:r>
              <a:rPr lang="en-US" sz="1500">
                <a:solidFill>
                  <a:srgbClr val="121A26"/>
                </a:solidFill>
                <a:latin typeface="Noto Sans TC"/>
                <a:ea typeface="Noto Sans TC"/>
                <a:cs typeface="Noto Sans TC"/>
                <a:sym typeface="Noto Sans TC"/>
              </a:rPr>
              <a:t>：篩選可能碰撞的候選配對</a:t>
            </a:r>
            <a:endParaRPr sz="1500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-201930" lvl="0" marL="20193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21A26"/>
              </a:buClr>
              <a:buSzPts val="1500"/>
              <a:buFont typeface="Noto Sans TC"/>
              <a:buChar char="•"/>
            </a:pPr>
            <a:r>
              <a:rPr b="1" lang="en-US" sz="1500">
                <a:solidFill>
                  <a:srgbClr val="121A26"/>
                </a:solidFill>
                <a:latin typeface="Noto Sans TC"/>
                <a:ea typeface="Noto Sans TC"/>
                <a:cs typeface="Noto Sans TC"/>
                <a:sym typeface="Noto Sans TC"/>
              </a:rPr>
              <a:t>時間連貫性</a:t>
            </a:r>
            <a:r>
              <a:rPr lang="en-US" sz="1500">
                <a:solidFill>
                  <a:srgbClr val="121A26"/>
                </a:solidFill>
                <a:latin typeface="Noto Sans TC"/>
                <a:ea typeface="Noto Sans TC"/>
                <a:cs typeface="Noto Sans TC"/>
                <a:sym typeface="Noto Sans TC"/>
              </a:rPr>
              <a:t>：計算 skin，判斷候選清單能否沿用</a:t>
            </a:r>
            <a:endParaRPr sz="1500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-201930" lvl="0" marL="20193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21A26"/>
              </a:buClr>
              <a:buSzPts val="1500"/>
              <a:buFont typeface="Noto Sans TC"/>
              <a:buChar char="•"/>
            </a:pPr>
            <a:r>
              <a:rPr b="1" lang="en-US" sz="1500">
                <a:solidFill>
                  <a:srgbClr val="121A26"/>
                </a:solidFill>
                <a:latin typeface="Noto Sans TC"/>
                <a:ea typeface="Noto Sans TC"/>
                <a:cs typeface="Noto Sans TC"/>
                <a:sym typeface="Noto Sans TC"/>
              </a:rPr>
              <a:t>skin 上界約束</a:t>
            </a:r>
            <a:r>
              <a:rPr lang="en-US" sz="1500">
                <a:solidFill>
                  <a:srgbClr val="121A26"/>
                </a:solidFill>
                <a:latin typeface="Noto Sans TC"/>
                <a:ea typeface="Noto Sans TC"/>
                <a:cs typeface="Noto Sans TC"/>
                <a:sym typeface="Noto Sans TC"/>
              </a:rPr>
              <a:t>：兩者的交集，空間幾何邊界與時間動態需求相互制約</a:t>
            </a:r>
            <a:endParaRPr sz="1500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-201930" lvl="0" marL="20193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21A26"/>
              </a:buClr>
              <a:buSzPts val="1500"/>
              <a:buFont typeface="Noto Sans TC"/>
              <a:buChar char="•"/>
            </a:pPr>
            <a:r>
              <a:rPr lang="en-US" sz="1500">
                <a:solidFill>
                  <a:srgbClr val="121A26"/>
                </a:solidFill>
                <a:latin typeface="Noto Sans TC"/>
                <a:ea typeface="Noto Sans TC"/>
                <a:cs typeface="Noto Sans TC"/>
                <a:sym typeface="Noto Sans TC"/>
              </a:rPr>
              <a:t>另以</a:t>
            </a:r>
            <a:r>
              <a:rPr lang="en-US" sz="1500">
                <a:solidFill>
                  <a:srgbClr val="121A26"/>
                </a:solidFill>
                <a:latin typeface="Noto Sans TC"/>
                <a:ea typeface="Noto Sans TC"/>
                <a:cs typeface="Noto Sans TC"/>
                <a:sym typeface="Noto Sans TC"/>
              </a:rPr>
              <a:t>暴力法</a:t>
            </a:r>
            <a:r>
              <a:rPr lang="en-US" sz="1500">
                <a:solidFill>
                  <a:srgbClr val="121A26"/>
                </a:solidFill>
                <a:latin typeface="Noto Sans TC"/>
                <a:ea typeface="Noto Sans TC"/>
                <a:cs typeface="Noto Sans TC"/>
                <a:sym typeface="Noto Sans TC"/>
              </a:rPr>
              <a:t>作為正確性驗證基準</a:t>
            </a:r>
            <a:endParaRPr sz="1500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84" name="Google Shape;84;p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"/>
          <p:cNvSpPr/>
          <p:nvPr/>
        </p:nvSpPr>
        <p:spPr>
          <a:xfrm>
            <a:off x="0" y="0"/>
            <a:ext cx="12192001" cy="9550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91" name="Google Shape;91;p6"/>
          <p:cNvSpPr txBox="1"/>
          <p:nvPr>
            <p:ph type="title"/>
          </p:nvPr>
        </p:nvSpPr>
        <p:spPr>
          <a:xfrm>
            <a:off x="0" y="0"/>
            <a:ext cx="12192001" cy="955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0" lIns="812800" spcFirstLastPara="1" rIns="495800" wrap="square" tIns="2794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Noto Sans TC"/>
              <a:buNone/>
            </a:pPr>
            <a:r>
              <a:rPr b="1" lang="en-US">
                <a:solidFill>
                  <a:schemeClr val="lt1"/>
                </a:solidFill>
              </a:rPr>
              <a:t>3.研究方法：系統架構 = 空間分割 × 時間連貫性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Noto Sans TC"/>
              <a:buNone/>
            </a:pPr>
            <a:r>
              <a:t/>
            </a:r>
            <a:endParaRPr b="1" sz="3000">
              <a:solidFill>
                <a:schemeClr val="lt1"/>
              </a:solidFill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812800" y="1460500"/>
            <a:ext cx="6267450" cy="3727450"/>
          </a:xfrm>
          <a:prstGeom prst="roundRect">
            <a:avLst>
              <a:gd fmla="val 204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pic>
        <p:nvPicPr>
          <p:cNvPr descr="示意圖：同一群粒子分別以 Octree（左，依密度細分）與 Uniform Grid（右，等大格子）切分，Octree 稀疏處的 skin 範圍較大，密集處較小" id="93" name="Google Shape;9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9150" y="1626507"/>
            <a:ext cx="6254750" cy="3395436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6"/>
          <p:cNvSpPr/>
          <p:nvPr/>
        </p:nvSpPr>
        <p:spPr>
          <a:xfrm>
            <a:off x="671000" y="1463675"/>
            <a:ext cx="6261000" cy="3721200"/>
          </a:xfrm>
          <a:prstGeom prst="roundRect">
            <a:avLst>
              <a:gd fmla="val 1962" name="adj"/>
            </a:avLst>
          </a:prstGeom>
          <a:noFill/>
          <a:ln cap="flat" cmpd="sng" w="9525">
            <a:solidFill>
              <a:srgbClr val="D5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7334250" y="1460500"/>
            <a:ext cx="45708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1500"/>
              <a:buFont typeface="Noto Sans TC"/>
              <a:buNone/>
            </a:pPr>
            <a:r>
              <a:rPr b="1" lang="en-US" sz="2100">
                <a:solidFill>
                  <a:srgbClr val="1F3A5F"/>
                </a:solidFill>
                <a:latin typeface="Noto Sans TC"/>
                <a:ea typeface="Noto Sans TC"/>
                <a:cs typeface="Noto Sans TC"/>
                <a:sym typeface="Noto Sans TC"/>
              </a:rPr>
              <a:t>空間分割(Octree vs Uniform Grid)</a:t>
            </a:r>
            <a:endParaRPr b="1" sz="2100">
              <a:solidFill>
                <a:srgbClr val="1F3A5F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1500"/>
              <a:buFont typeface="Noto Sans TC"/>
              <a:buNone/>
            </a:pPr>
            <a:r>
              <a:t/>
            </a:r>
            <a:endParaRPr b="1" sz="2100">
              <a:solidFill>
                <a:srgbClr val="1F3A5F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1500"/>
              <a:buFont typeface="Noto Sans TC"/>
              <a:buNone/>
            </a:pPr>
            <a:r>
              <a:t/>
            </a:r>
            <a:endParaRPr b="1" sz="2100">
              <a:solidFill>
                <a:srgbClr val="1F3A5F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7243000" y="1696800"/>
            <a:ext cx="4570800" cy="39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121A26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-219456" lvl="0" marL="181356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121A26"/>
              </a:buClr>
              <a:buSzPts val="1900"/>
              <a:buFont typeface="Noto Sans TC"/>
              <a:buChar char="•"/>
            </a:pPr>
            <a:r>
              <a:rPr b="1" lang="en-US" sz="1900">
                <a:solidFill>
                  <a:srgbClr val="121A26"/>
                </a:solidFill>
                <a:latin typeface="Noto Sans TC"/>
                <a:ea typeface="Noto Sans TC"/>
                <a:cs typeface="Noto Sans TC"/>
                <a:sym typeface="Noto Sans TC"/>
              </a:rPr>
              <a:t>Octree（實驗組）</a:t>
            </a:r>
            <a:r>
              <a:rPr lang="en-US" sz="1900">
                <a:solidFill>
                  <a:srgbClr val="121A26"/>
                </a:solidFill>
                <a:latin typeface="Noto Sans TC"/>
                <a:ea typeface="Noto Sans TC"/>
                <a:cs typeface="Noto Sans TC"/>
                <a:sym typeface="Noto Sans TC"/>
              </a:rPr>
              <a:t>：依局部粒子密度動態分割</a:t>
            </a:r>
            <a:r>
              <a:rPr lang="en-US" sz="1900">
                <a:solidFill>
                  <a:srgbClr val="121A26"/>
                </a:solidFill>
                <a:latin typeface="Noto Sans TC"/>
                <a:ea typeface="Noto Sans TC"/>
                <a:cs typeface="Noto Sans TC"/>
                <a:sym typeface="Noto Sans TC"/>
              </a:rPr>
              <a:t>；以所在葉節點半邊長 l 作為 skin 的幾何限制</a:t>
            </a:r>
            <a:endParaRPr sz="1900">
              <a:solidFill>
                <a:srgbClr val="121A26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0" lvl="0" marL="45720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121A26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-219456" lvl="0" marL="181356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121A26"/>
              </a:buClr>
              <a:buSzPts val="1900"/>
              <a:buFont typeface="Noto Sans TC"/>
              <a:buChar char="•"/>
            </a:pPr>
            <a:r>
              <a:rPr b="1" lang="en-US" sz="1900">
                <a:solidFill>
                  <a:srgbClr val="121A26"/>
                </a:solidFill>
                <a:latin typeface="Noto Sans TC"/>
                <a:ea typeface="Noto Sans TC"/>
                <a:cs typeface="Noto Sans TC"/>
                <a:sym typeface="Noto Sans TC"/>
              </a:rPr>
              <a:t>Uniform Grid（對照組）</a:t>
            </a:r>
            <a:r>
              <a:rPr lang="en-US" sz="1900">
                <a:solidFill>
                  <a:srgbClr val="121A26"/>
                </a:solidFill>
                <a:latin typeface="Noto Sans TC"/>
                <a:ea typeface="Noto Sans TC"/>
                <a:cs typeface="Noto Sans TC"/>
                <a:sym typeface="Noto Sans TC"/>
              </a:rPr>
              <a:t>：固定網格＋雜湊表，O(1) 映射、檢查 13 個前向鄰格；以網格邊長作為 skin 上界</a:t>
            </a:r>
            <a:endParaRPr sz="1900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7334250" y="3197175"/>
            <a:ext cx="4166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1500"/>
              <a:buFont typeface="Noto Sans TC"/>
              <a:buNone/>
            </a:pPr>
            <a:r>
              <a:t/>
            </a:r>
            <a:endParaRPr sz="1500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812800" y="6365239"/>
            <a:ext cx="3361754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B78"/>
              </a:buClr>
              <a:buSzPts val="1200"/>
              <a:buFont typeface="Noto Sans TC"/>
              <a:buNone/>
            </a:pPr>
            <a:r>
              <a:rPr lang="en-US" sz="1200">
                <a:solidFill>
                  <a:srgbClr val="5F6B78"/>
                </a:solidFill>
                <a:latin typeface="Noto Sans TC"/>
                <a:ea typeface="Noto Sans TC"/>
                <a:cs typeface="Noto Sans TC"/>
                <a:sym typeface="Noto Sans TC"/>
              </a:rPr>
              <a:t>示意圖為 2D 呈現，實際系統為 3D 八元樹</a:t>
            </a:r>
            <a:endParaRPr sz="1200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99" name="Google Shape;99;p6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7"/>
          <p:cNvSpPr/>
          <p:nvPr/>
        </p:nvSpPr>
        <p:spPr>
          <a:xfrm>
            <a:off x="0" y="0"/>
            <a:ext cx="12192001" cy="9550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812800" y="6365239"/>
            <a:ext cx="4924044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B78"/>
              </a:buClr>
              <a:buSzPts val="1200"/>
              <a:buFont typeface="Noto Sans TC"/>
              <a:buNone/>
            </a:pPr>
            <a:r>
              <a:rPr lang="en-US" sz="1200">
                <a:solidFill>
                  <a:srgbClr val="5F6B78"/>
                </a:solidFill>
                <a:latin typeface="Noto Sans TC"/>
                <a:ea typeface="Noto Sans TC"/>
                <a:cs typeface="Noto Sans TC"/>
                <a:sym typeface="Noto Sans TC"/>
              </a:rPr>
              <a:t>K：跨步係</a:t>
            </a:r>
            <a:r>
              <a:rPr lang="en-US" sz="1200">
                <a:solidFill>
                  <a:srgbClr val="5F6B78"/>
                </a:solidFill>
                <a:latin typeface="Noto Sans TC"/>
                <a:ea typeface="Noto Sans TC"/>
                <a:cs typeface="Noto Sans TC"/>
                <a:sym typeface="Noto Sans TC"/>
              </a:rPr>
              <a:t>數</a:t>
            </a:r>
            <a:endParaRPr sz="1200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747100" y="1752600"/>
            <a:ext cx="7683000" cy="3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21A26"/>
              </a:buClr>
              <a:buSzPts val="1500"/>
              <a:buFont typeface="Noto Sans TC"/>
              <a:buNone/>
            </a:pPr>
            <a:r>
              <a:rPr lang="en-US" sz="1900">
                <a:solidFill>
                  <a:srgbClr val="121A26"/>
                </a:solidFill>
                <a:latin typeface="Noto Sans TC"/>
                <a:ea typeface="Noto Sans TC"/>
                <a:cs typeface="Noto Sans TC"/>
                <a:sym typeface="Noto Sans TC"/>
              </a:rPr>
              <a:t>• </a:t>
            </a:r>
            <a:r>
              <a:rPr b="1" lang="en-US" sz="1900">
                <a:solidFill>
                  <a:srgbClr val="121A26"/>
                </a:solidFill>
                <a:latin typeface="Noto Sans TC"/>
                <a:ea typeface="Noto Sans TC"/>
                <a:cs typeface="Noto Sans TC"/>
                <a:sym typeface="Noto Sans TC"/>
              </a:rPr>
              <a:t>動態 skin 計算</a:t>
            </a:r>
            <a:r>
              <a:rPr lang="en-US" sz="1900">
                <a:solidFill>
                  <a:srgbClr val="121A26"/>
                </a:solidFill>
                <a:latin typeface="Noto Sans TC"/>
                <a:ea typeface="Noto Sans TC"/>
                <a:cs typeface="Noto Sans TC"/>
                <a:sym typeface="Noto Sans TC"/>
              </a:rPr>
              <a:t>：以二階運動學模型，預測粒子未來 K 步內的位移</a:t>
            </a:r>
            <a:endParaRPr sz="1900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pic>
        <p:nvPicPr>
          <p:cNvPr descr="skin_i = K v_i Δt + 1/2 a_i (K Δt)^2" id="108" name="Google Shape;108;p7"/>
          <p:cNvPicPr preferRelativeResize="0"/>
          <p:nvPr/>
        </p:nvPicPr>
        <p:blipFill rotWithShape="1">
          <a:blip r:embed="rId3">
            <a:alphaModFix/>
          </a:blip>
          <a:srcRect b="0" l="-235" r="-235" t="0"/>
          <a:stretch/>
        </p:blipFill>
        <p:spPr>
          <a:xfrm>
            <a:off x="3431901" y="2462525"/>
            <a:ext cx="3498850" cy="60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7"/>
          <p:cNvSpPr/>
          <p:nvPr/>
        </p:nvSpPr>
        <p:spPr>
          <a:xfrm>
            <a:off x="812800" y="3464588"/>
            <a:ext cx="7017900" cy="3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21A26"/>
              </a:buClr>
              <a:buSzPts val="1500"/>
              <a:buFont typeface="Noto Sans TC"/>
              <a:buNone/>
            </a:pPr>
            <a:r>
              <a:rPr lang="en-US" sz="1900">
                <a:solidFill>
                  <a:srgbClr val="121A26"/>
                </a:solidFill>
                <a:latin typeface="Noto Sans TC"/>
                <a:ea typeface="Noto Sans TC"/>
                <a:cs typeface="Noto Sans TC"/>
                <a:sym typeface="Noto Sans TC"/>
              </a:rPr>
              <a:t>• </a:t>
            </a:r>
            <a:r>
              <a:rPr b="1" lang="en-US" sz="1900">
                <a:solidFill>
                  <a:srgbClr val="121A26"/>
                </a:solidFill>
                <a:latin typeface="Noto Sans TC"/>
                <a:ea typeface="Noto Sans TC"/>
                <a:cs typeface="Noto Sans TC"/>
                <a:sym typeface="Noto Sans TC"/>
              </a:rPr>
              <a:t>位移失效判定</a:t>
            </a:r>
            <a:r>
              <a:rPr lang="en-US" sz="1900">
                <a:solidFill>
                  <a:srgbClr val="121A26"/>
                </a:solidFill>
                <a:latin typeface="Noto Sans TC"/>
                <a:ea typeface="Noto Sans TC"/>
                <a:cs typeface="Noto Sans TC"/>
                <a:sym typeface="Noto Sans TC"/>
              </a:rPr>
              <a:t>：任一粒子 Δx &gt; skin → 重建；否則沿用清單</a:t>
            </a:r>
            <a:endParaRPr sz="1900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pic>
        <p:nvPicPr>
          <p:cNvPr descr="Δx_i = ‖x_i − x_i,last‖" id="110" name="Google Shape;110;p7"/>
          <p:cNvPicPr preferRelativeResize="0"/>
          <p:nvPr/>
        </p:nvPicPr>
        <p:blipFill rotWithShape="1">
          <a:blip r:embed="rId4">
            <a:alphaModFix/>
          </a:blip>
          <a:srcRect b="0" l="-24287" r="-24287" t="0"/>
          <a:stretch/>
        </p:blipFill>
        <p:spPr>
          <a:xfrm>
            <a:off x="2402225" y="4214125"/>
            <a:ext cx="5361145" cy="60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2" name="Google Shape;112;p7"/>
          <p:cNvSpPr/>
          <p:nvPr/>
        </p:nvSpPr>
        <p:spPr>
          <a:xfrm>
            <a:off x="812800" y="1341450"/>
            <a:ext cx="45708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1500"/>
              <a:buFont typeface="Noto Sans TC"/>
              <a:buNone/>
            </a:pPr>
            <a:r>
              <a:rPr b="1" lang="en-US" sz="2100">
                <a:solidFill>
                  <a:srgbClr val="1F3A5F"/>
                </a:solidFill>
                <a:latin typeface="Noto Sans TC"/>
                <a:ea typeface="Noto Sans TC"/>
                <a:cs typeface="Noto Sans TC"/>
                <a:sym typeface="Noto Sans TC"/>
              </a:rPr>
              <a:t>時間連貫性</a:t>
            </a:r>
            <a:endParaRPr b="1" sz="2100">
              <a:solidFill>
                <a:srgbClr val="1F3A5F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1500"/>
              <a:buFont typeface="Noto Sans TC"/>
              <a:buNone/>
            </a:pPr>
            <a:r>
              <a:t/>
            </a:r>
            <a:endParaRPr b="1" sz="2100">
              <a:solidFill>
                <a:srgbClr val="1F3A5F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113" name="Google Shape;113;p7"/>
          <p:cNvSpPr txBox="1"/>
          <p:nvPr>
            <p:ph type="title"/>
          </p:nvPr>
        </p:nvSpPr>
        <p:spPr>
          <a:xfrm>
            <a:off x="0" y="0"/>
            <a:ext cx="12192000" cy="9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0" lIns="812800" spcFirstLastPara="1" rIns="495800" wrap="square" tIns="2794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Noto Sans TC"/>
              <a:buNone/>
            </a:pPr>
            <a:r>
              <a:rPr b="1" lang="en-US">
                <a:solidFill>
                  <a:schemeClr val="lt1"/>
                </a:solidFill>
              </a:rPr>
              <a:t>3.研究方法：系統架構 = 空間分割 × 時間連貫性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Noto Sans TC"/>
              <a:buNone/>
            </a:pPr>
            <a:r>
              <a:t/>
            </a:r>
            <a:endParaRPr b="1" sz="3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h30183f993f47d20a_0_22"/>
          <p:cNvSpPr/>
          <p:nvPr/>
        </p:nvSpPr>
        <p:spPr>
          <a:xfrm>
            <a:off x="0" y="0"/>
            <a:ext cx="12192000" cy="9549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grpSp>
        <p:nvGrpSpPr>
          <p:cNvPr id="120" name="Google Shape;120;h30183f993f47d20a_0_22"/>
          <p:cNvGrpSpPr/>
          <p:nvPr/>
        </p:nvGrpSpPr>
        <p:grpSpPr>
          <a:xfrm>
            <a:off x="188475" y="1157871"/>
            <a:ext cx="11409076" cy="5297054"/>
            <a:chOff x="447613" y="1481163"/>
            <a:chExt cx="11033923" cy="5122877"/>
          </a:xfrm>
        </p:grpSpPr>
        <p:sp>
          <p:nvSpPr>
            <p:cNvPr id="121" name="Google Shape;121;h30183f993f47d20a_0_22"/>
            <p:cNvSpPr/>
            <p:nvPr/>
          </p:nvSpPr>
          <p:spPr>
            <a:xfrm>
              <a:off x="747100" y="6365239"/>
              <a:ext cx="4923900" cy="23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F6B78"/>
                </a:buClr>
                <a:buSzPts val="1241"/>
                <a:buFont typeface="Noto Sans TC"/>
                <a:buNone/>
              </a:pPr>
              <a:r>
                <a:rPr lang="en-US" sz="1241">
                  <a:solidFill>
                    <a:srgbClr val="5F6B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K：跨步係</a:t>
              </a:r>
              <a:r>
                <a:rPr lang="en-US" sz="1241">
                  <a:solidFill>
                    <a:srgbClr val="5F6B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數</a:t>
              </a:r>
              <a:endParaRPr sz="1241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pic>
          <p:nvPicPr>
            <p:cNvPr id="122" name="Google Shape;122;h30183f993f47d20a_0_2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47613" y="1481163"/>
              <a:ext cx="11033923" cy="427778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3" name="Google Shape;123;h30183f993f47d20a_0_2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4" name="Google Shape;124;h30183f993f47d20a_0_22"/>
          <p:cNvSpPr txBox="1"/>
          <p:nvPr>
            <p:ph type="title"/>
          </p:nvPr>
        </p:nvSpPr>
        <p:spPr>
          <a:xfrm>
            <a:off x="-50" y="0"/>
            <a:ext cx="12192000" cy="9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0" lIns="812800" spcFirstLastPara="1" rIns="495800" wrap="square" tIns="2794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Noto Sans TC"/>
              <a:buNone/>
            </a:pPr>
            <a:r>
              <a:rPr b="1" lang="en-US">
                <a:solidFill>
                  <a:schemeClr val="lt1"/>
                </a:solidFill>
              </a:rPr>
              <a:t>3.研究方法：系統架構 = 空間分割 × 時間連貫性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Noto Sans TC"/>
              <a:buNone/>
            </a:pPr>
            <a:r>
              <a:t/>
            </a:r>
            <a:endParaRPr b="1" sz="3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h30183f993f47d20a_0_1"/>
          <p:cNvSpPr/>
          <p:nvPr/>
        </p:nvSpPr>
        <p:spPr>
          <a:xfrm>
            <a:off x="0" y="0"/>
            <a:ext cx="12192000" cy="9549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131" name="Google Shape;131;h30183f993f47d20a_0_1"/>
          <p:cNvSpPr txBox="1"/>
          <p:nvPr>
            <p:ph type="title"/>
          </p:nvPr>
        </p:nvSpPr>
        <p:spPr>
          <a:xfrm>
            <a:off x="0" y="884425"/>
            <a:ext cx="3045600" cy="9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0" lIns="812800" spcFirstLastPara="1" rIns="495800" wrap="square" tIns="2794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Noto Sans TC"/>
              <a:buNone/>
            </a:pPr>
            <a:r>
              <a:rPr lang="en-US"/>
              <a:t>上界約束</a:t>
            </a:r>
            <a:endParaRPr sz="2600"/>
          </a:p>
        </p:txBody>
      </p:sp>
      <p:sp>
        <p:nvSpPr>
          <p:cNvPr id="132" name="Google Shape;132;h30183f993f47d20a_0_1"/>
          <p:cNvSpPr/>
          <p:nvPr/>
        </p:nvSpPr>
        <p:spPr>
          <a:xfrm>
            <a:off x="812800" y="6365239"/>
            <a:ext cx="49239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B78"/>
              </a:buClr>
              <a:buSzPts val="1200"/>
              <a:buFont typeface="Noto Sans TC"/>
              <a:buNone/>
            </a:pPr>
            <a:r>
              <a:rPr lang="en-US" sz="1200">
                <a:solidFill>
                  <a:srgbClr val="5F6B78"/>
                </a:solidFill>
                <a:latin typeface="Noto Sans TC"/>
                <a:ea typeface="Noto Sans TC"/>
                <a:cs typeface="Noto Sans TC"/>
                <a:sym typeface="Noto Sans TC"/>
              </a:rPr>
              <a:t>h：網格邊長　l：葉節點半邊長　r：粒子半徑</a:t>
            </a:r>
            <a:endParaRPr sz="1200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133" name="Google Shape;133;h30183f993f47d20a_0_1"/>
          <p:cNvSpPr/>
          <p:nvPr/>
        </p:nvSpPr>
        <p:spPr>
          <a:xfrm>
            <a:off x="812800" y="1729338"/>
            <a:ext cx="108834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1600"/>
              <a:buFont typeface="Noto Sans TC"/>
              <a:buNone/>
            </a:pPr>
            <a:r>
              <a:rPr b="1" lang="en-US" sz="1600">
                <a:solidFill>
                  <a:srgbClr val="1F3A5F"/>
                </a:solidFill>
                <a:latin typeface="Noto Sans TC"/>
                <a:ea typeface="Noto Sans TC"/>
                <a:cs typeface="Noto Sans TC"/>
                <a:sym typeface="Noto Sans TC"/>
              </a:rPr>
              <a:t>skin 上界約束</a:t>
            </a:r>
            <a:r>
              <a:rPr b="1" lang="en-US" sz="1600">
                <a:solidFill>
                  <a:srgbClr val="1F3A5F"/>
                </a:solidFill>
                <a:latin typeface="Noto Sans TC"/>
                <a:ea typeface="Noto Sans TC"/>
                <a:cs typeface="Noto Sans TC"/>
                <a:sym typeface="Noto Sans TC"/>
              </a:rPr>
              <a:t>：skin 上界的原則都是「</a:t>
            </a:r>
            <a:r>
              <a:rPr b="1" lang="en-US" sz="1600">
                <a:solidFill>
                  <a:srgbClr val="FF0000"/>
                </a:solidFill>
                <a:latin typeface="Noto Sans TC"/>
                <a:ea typeface="Noto Sans TC"/>
                <a:cs typeface="Noto Sans TC"/>
                <a:sym typeface="Noto Sans TC"/>
              </a:rPr>
              <a:t>skin 不超過所在空間單元的大小</a:t>
            </a:r>
            <a:r>
              <a:rPr b="1" lang="en-US" sz="1600">
                <a:solidFill>
                  <a:srgbClr val="1F3A5F"/>
                </a:solidFill>
                <a:latin typeface="Noto Sans TC"/>
                <a:ea typeface="Noto Sans TC"/>
                <a:cs typeface="Noto Sans TC"/>
                <a:sym typeface="Noto Sans TC"/>
              </a:rPr>
              <a:t>」，但 Uniform Grid 的搜尋範圍固定，違反時會漏判，上界保護的是正確性；Octree 的搜尋範圍隨 skin 擴大，違反時候選會暴增，上界保護的是效能，而且會隨葉節點大小依密度自動調整。</a:t>
            </a:r>
            <a:r>
              <a:rPr b="1" lang="en-US">
                <a:solidFill>
                  <a:srgbClr val="1F3A5F"/>
                </a:solidFill>
                <a:latin typeface="Noto Sans TC"/>
                <a:ea typeface="Noto Sans TC"/>
                <a:cs typeface="Noto Sans TC"/>
                <a:sym typeface="Noto Sans TC"/>
              </a:rPr>
              <a:t> </a:t>
            </a:r>
            <a:endParaRPr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134" name="Google Shape;134;h30183f993f47d20a_0_1"/>
          <p:cNvSpPr/>
          <p:nvPr/>
        </p:nvSpPr>
        <p:spPr>
          <a:xfrm>
            <a:off x="990100" y="3040788"/>
            <a:ext cx="10211700" cy="3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21A26"/>
              </a:buClr>
              <a:buSzPts val="1500"/>
              <a:buFont typeface="Noto Sans TC"/>
              <a:buNone/>
            </a:pPr>
            <a:r>
              <a:rPr lang="en-US" sz="1900">
                <a:solidFill>
                  <a:srgbClr val="121A26"/>
                </a:solidFill>
                <a:latin typeface="Noto Sans TC"/>
                <a:ea typeface="Noto Sans TC"/>
                <a:cs typeface="Noto Sans TC"/>
                <a:sym typeface="Noto Sans TC"/>
              </a:rPr>
              <a:t>•</a:t>
            </a:r>
            <a:r>
              <a:rPr b="1" lang="en-US" sz="1900">
                <a:solidFill>
                  <a:srgbClr val="121A26"/>
                </a:solidFill>
                <a:latin typeface="Noto Sans TC"/>
                <a:ea typeface="Noto Sans TC"/>
                <a:cs typeface="Noto Sans TC"/>
                <a:sym typeface="Noto Sans TC"/>
              </a:rPr>
              <a:t> </a:t>
            </a:r>
            <a:r>
              <a:rPr b="1" lang="en-US" sz="1900">
                <a:solidFill>
                  <a:srgbClr val="121A26"/>
                </a:solidFill>
                <a:latin typeface="Noto Sans TC"/>
                <a:ea typeface="Noto Sans TC"/>
                <a:cs typeface="Noto Sans TC"/>
                <a:sym typeface="Noto Sans TC"/>
              </a:rPr>
              <a:t>Uniform Grid</a:t>
            </a:r>
            <a:r>
              <a:rPr lang="en-US" sz="1900">
                <a:solidFill>
                  <a:srgbClr val="121A26"/>
                </a:solidFill>
                <a:latin typeface="Noto Sans TC"/>
                <a:ea typeface="Noto Sans TC"/>
                <a:cs typeface="Noto Sans TC"/>
                <a:sym typeface="Noto Sans TC"/>
              </a:rPr>
              <a:t>：上界由網格邊長決定，全場固定，取半格扣除粒子半徑 </a:t>
            </a:r>
            <a:endParaRPr sz="1900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pic>
        <p:nvPicPr>
          <p:cNvPr descr="skin_max = max(0, h/2 − r)" id="135" name="Google Shape;135;h30183f993f47d20a_0_1"/>
          <p:cNvPicPr preferRelativeResize="0"/>
          <p:nvPr/>
        </p:nvPicPr>
        <p:blipFill rotWithShape="1">
          <a:blip r:embed="rId3">
            <a:alphaModFix/>
          </a:blip>
          <a:srcRect b="0" l="-6015" r="-6004" t="0"/>
          <a:stretch/>
        </p:blipFill>
        <p:spPr>
          <a:xfrm>
            <a:off x="3652362" y="3582663"/>
            <a:ext cx="4202989" cy="739913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h30183f993f47d20a_0_1"/>
          <p:cNvSpPr/>
          <p:nvPr/>
        </p:nvSpPr>
        <p:spPr>
          <a:xfrm>
            <a:off x="990100" y="4553363"/>
            <a:ext cx="7017900" cy="3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21A26"/>
              </a:buClr>
              <a:buSzPts val="1500"/>
              <a:buFont typeface="Noto Sans TC"/>
              <a:buNone/>
            </a:pPr>
            <a:r>
              <a:rPr lang="en-US" sz="1900">
                <a:solidFill>
                  <a:srgbClr val="121A26"/>
                </a:solidFill>
                <a:latin typeface="Noto Sans TC"/>
                <a:ea typeface="Noto Sans TC"/>
                <a:cs typeface="Noto Sans TC"/>
                <a:sym typeface="Noto Sans TC"/>
              </a:rPr>
              <a:t>• </a:t>
            </a:r>
            <a:r>
              <a:rPr b="1" lang="en-US" sz="1900">
                <a:solidFill>
                  <a:srgbClr val="121A26"/>
                </a:solidFill>
                <a:latin typeface="Noto Sans TC"/>
                <a:ea typeface="Noto Sans TC"/>
                <a:cs typeface="Noto Sans TC"/>
                <a:sym typeface="Noto Sans TC"/>
              </a:rPr>
              <a:t>Octree</a:t>
            </a:r>
            <a:r>
              <a:rPr lang="en-US" sz="1900">
                <a:solidFill>
                  <a:srgbClr val="121A26"/>
                </a:solidFill>
                <a:latin typeface="Noto Sans TC"/>
                <a:ea typeface="Noto Sans TC"/>
                <a:cs typeface="Noto Sans TC"/>
                <a:sym typeface="Noto Sans TC"/>
              </a:rPr>
              <a:t>：隨葉節點大小調整，密集處收緊、稀疏處放寬</a:t>
            </a:r>
            <a:endParaRPr sz="1900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pic>
        <p:nvPicPr>
          <p:cNvPr descr="skin_max = max(0, l − r)" id="137" name="Google Shape;137;h30183f993f47d20a_0_1"/>
          <p:cNvPicPr preferRelativeResize="0"/>
          <p:nvPr/>
        </p:nvPicPr>
        <p:blipFill rotWithShape="1">
          <a:blip r:embed="rId4">
            <a:alphaModFix/>
          </a:blip>
          <a:srcRect b="0" l="-11485" r="-11485" t="0"/>
          <a:stretch/>
        </p:blipFill>
        <p:spPr>
          <a:xfrm>
            <a:off x="3442575" y="5201313"/>
            <a:ext cx="4852476" cy="528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h30183f993f47d20a_0_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9" name="Google Shape;139;h30183f993f47d20a_0_1"/>
          <p:cNvSpPr txBox="1"/>
          <p:nvPr>
            <p:ph type="title"/>
          </p:nvPr>
        </p:nvSpPr>
        <p:spPr>
          <a:xfrm>
            <a:off x="0" y="0"/>
            <a:ext cx="12192000" cy="9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0" lIns="812800" spcFirstLastPara="1" rIns="495800" wrap="square" tIns="2794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Noto Sans TC"/>
              <a:buNone/>
            </a:pPr>
            <a:r>
              <a:rPr b="1" lang="en-US">
                <a:solidFill>
                  <a:schemeClr val="lt1"/>
                </a:solidFill>
              </a:rPr>
              <a:t>3.研究方法：系統架構 = 空間分割 × 時間連貫性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Noto Sans TC"/>
              <a:buNone/>
            </a:pPr>
            <a:r>
              <a:t/>
            </a:r>
            <a:endParaRPr b="1" sz="3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h30183f993f47d20a_0_49"/>
          <p:cNvSpPr/>
          <p:nvPr/>
        </p:nvSpPr>
        <p:spPr>
          <a:xfrm>
            <a:off x="0" y="0"/>
            <a:ext cx="12192000" cy="9549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146" name="Google Shape;146;h30183f993f47d20a_0_49"/>
          <p:cNvSpPr/>
          <p:nvPr/>
        </p:nvSpPr>
        <p:spPr>
          <a:xfrm>
            <a:off x="812800" y="6365239"/>
            <a:ext cx="49239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B78"/>
              </a:buClr>
              <a:buSzPts val="1200"/>
              <a:buFont typeface="Noto Sans TC"/>
              <a:buNone/>
            </a:pPr>
            <a:r>
              <a:rPr lang="en-US" sz="1200">
                <a:solidFill>
                  <a:srgbClr val="5F6B78"/>
                </a:solidFill>
                <a:latin typeface="Noto Sans TC"/>
                <a:ea typeface="Noto Sans TC"/>
                <a:cs typeface="Noto Sans TC"/>
                <a:sym typeface="Noto Sans TC"/>
              </a:rPr>
              <a:t>h：網格邊長　l：葉節點半邊長　r：粒子半徑</a:t>
            </a:r>
            <a:endParaRPr sz="1200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pic>
        <p:nvPicPr>
          <p:cNvPr id="147" name="Google Shape;147;h30183f993f47d20a_0_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951" y="1124775"/>
            <a:ext cx="11198099" cy="5070591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h30183f993f47d20a_0_49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9" name="Google Shape;149;h30183f993f47d20a_0_49"/>
          <p:cNvSpPr txBox="1"/>
          <p:nvPr>
            <p:ph type="title"/>
          </p:nvPr>
        </p:nvSpPr>
        <p:spPr>
          <a:xfrm>
            <a:off x="0" y="0"/>
            <a:ext cx="12192000" cy="9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0" lIns="812800" spcFirstLastPara="1" rIns="495800" wrap="square" tIns="2794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Noto Sans TC"/>
              <a:buNone/>
            </a:pPr>
            <a:r>
              <a:rPr b="1" lang="en-US">
                <a:solidFill>
                  <a:schemeClr val="lt1"/>
                </a:solidFill>
              </a:rPr>
              <a:t>3.研究方法：系統架構 = 空間分割 × 時間連貫性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Noto Sans TC"/>
              <a:buNone/>
            </a:pPr>
            <a:r>
              <a:t/>
            </a:r>
            <a:endParaRPr b="1" sz="3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"/>
          <p:cNvSpPr/>
          <p:nvPr/>
        </p:nvSpPr>
        <p:spPr>
          <a:xfrm>
            <a:off x="0" y="0"/>
            <a:ext cx="12192001" cy="9550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pic>
        <p:nvPicPr>
          <p:cNvPr descr="論文圖 2 碰撞偵測流程圖：判斷鄰居清單是否仍有效，Yes 直接進入 Narrow-Phase；No 進入 Broad-Phase、重建空間結構、更新各粒子 skin、記錄新位置作為 skin 基準點後再進入 Narrow-Phase" id="156" name="Google Shape;156;p8"/>
          <p:cNvPicPr preferRelativeResize="0"/>
          <p:nvPr/>
        </p:nvPicPr>
        <p:blipFill rotWithShape="1">
          <a:blip r:embed="rId3">
            <a:alphaModFix/>
          </a:blip>
          <a:srcRect b="-1031" l="0" r="0" t="-1031"/>
          <a:stretch/>
        </p:blipFill>
        <p:spPr>
          <a:xfrm>
            <a:off x="88181" y="1596126"/>
            <a:ext cx="6881594" cy="3827492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8"/>
          <p:cNvSpPr/>
          <p:nvPr/>
        </p:nvSpPr>
        <p:spPr>
          <a:xfrm>
            <a:off x="7142076" y="2357051"/>
            <a:ext cx="60615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2218"/>
              <a:buFont typeface="Noto Sans TC"/>
              <a:buNone/>
            </a:pPr>
            <a:r>
              <a:rPr b="1" lang="en-US" sz="2218">
                <a:solidFill>
                  <a:srgbClr val="1F3A5F"/>
                </a:solidFill>
                <a:latin typeface="Noto Sans TC"/>
                <a:ea typeface="Noto Sans TC"/>
                <a:cs typeface="Noto Sans TC"/>
                <a:sym typeface="Noto Sans TC"/>
              </a:rPr>
              <a:t>運作流程</a:t>
            </a:r>
            <a:endParaRPr sz="2218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7151467" y="2762413"/>
            <a:ext cx="5962500" cy="6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3497" lvl="0" marL="223497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121A26"/>
              </a:buClr>
              <a:buSzPts val="1602"/>
              <a:buFont typeface="Noto Sans TC"/>
              <a:buChar char="•"/>
            </a:pPr>
            <a:r>
              <a:rPr lang="en-US" sz="1602">
                <a:solidFill>
                  <a:srgbClr val="121A26"/>
                </a:solidFill>
                <a:latin typeface="Noto Sans TC"/>
                <a:ea typeface="Noto Sans TC"/>
                <a:cs typeface="Noto Sans TC"/>
                <a:sym typeface="Noto Sans TC"/>
              </a:rPr>
              <a:t>Yes：沿用清單、跳過 Broad-Phase</a:t>
            </a:r>
            <a:endParaRPr sz="1602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-223497" lvl="0" marL="223497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121A26"/>
              </a:buClr>
              <a:buSzPts val="1602"/>
              <a:buFont typeface="Noto Sans TC"/>
              <a:buChar char="•"/>
            </a:pPr>
            <a:r>
              <a:rPr lang="en-US" sz="1602">
                <a:solidFill>
                  <a:srgbClr val="121A26"/>
                </a:solidFill>
                <a:latin typeface="Noto Sans TC"/>
                <a:ea typeface="Noto Sans TC"/>
                <a:cs typeface="Noto Sans TC"/>
                <a:sym typeface="Noto Sans TC"/>
              </a:rPr>
              <a:t>No：重建結構、更新 skin、記錄基準點</a:t>
            </a:r>
            <a:endParaRPr sz="1602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159" name="Google Shape;159;p8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0" name="Google Shape;160;p8"/>
          <p:cNvSpPr txBox="1"/>
          <p:nvPr>
            <p:ph type="title"/>
          </p:nvPr>
        </p:nvSpPr>
        <p:spPr>
          <a:xfrm>
            <a:off x="0" y="75"/>
            <a:ext cx="12192000" cy="9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0" lIns="812800" spcFirstLastPara="1" rIns="495800" wrap="square" tIns="2794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Noto Sans TC"/>
              <a:buNone/>
            </a:pPr>
            <a:r>
              <a:rPr b="1" lang="en-US">
                <a:solidFill>
                  <a:schemeClr val="lt1"/>
                </a:solidFill>
              </a:rPr>
              <a:t>3.研究方法：系統架構 = 空間分割 × 時間連貫性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Noto Sans TC"/>
              <a:buNone/>
            </a:pPr>
            <a:r>
              <a:t/>
            </a:r>
            <a:endParaRPr b="1" sz="3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h284909d5204ed4f7_0_21"/>
          <p:cNvSpPr/>
          <p:nvPr/>
        </p:nvSpPr>
        <p:spPr>
          <a:xfrm>
            <a:off x="0" y="0"/>
            <a:ext cx="12192000" cy="9549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166" name="Google Shape;166;h284909d5204ed4f7_0_21"/>
          <p:cNvSpPr txBox="1"/>
          <p:nvPr>
            <p:ph type="title"/>
          </p:nvPr>
        </p:nvSpPr>
        <p:spPr>
          <a:xfrm>
            <a:off x="218300" y="1200413"/>
            <a:ext cx="12192000" cy="9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0" lIns="812800" spcFirstLastPara="1" rIns="495800" wrap="square" tIns="2794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Noto Sans TC"/>
              <a:buNone/>
            </a:pPr>
            <a:r>
              <a:rPr lang="en-US"/>
              <a:t>實驗設計</a:t>
            </a:r>
            <a:endParaRPr sz="2600"/>
          </a:p>
        </p:txBody>
      </p:sp>
      <p:sp>
        <p:nvSpPr>
          <p:cNvPr id="167" name="Google Shape;167;h284909d5204ed4f7_0_2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8" name="Google Shape;168;h284909d5204ed4f7_0_21"/>
          <p:cNvSpPr txBox="1"/>
          <p:nvPr>
            <p:ph type="title"/>
          </p:nvPr>
        </p:nvSpPr>
        <p:spPr>
          <a:xfrm>
            <a:off x="0" y="0"/>
            <a:ext cx="12192000" cy="9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0" lIns="812800" spcFirstLastPara="1" rIns="495800" wrap="square" tIns="2794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Noto Sans TC"/>
              <a:buNone/>
            </a:pPr>
            <a:r>
              <a:rPr b="1" lang="en-US">
                <a:solidFill>
                  <a:srgbClr val="FFFFFF"/>
                </a:solidFill>
              </a:rPr>
              <a:t>4.實驗</a:t>
            </a:r>
            <a:endParaRPr sz="2600"/>
          </a:p>
        </p:txBody>
      </p:sp>
      <p:graphicFrame>
        <p:nvGraphicFramePr>
          <p:cNvPr id="169" name="Google Shape;169;h284909d5204ed4f7_0_21"/>
          <p:cNvGraphicFramePr/>
          <p:nvPr/>
        </p:nvGraphicFramePr>
        <p:xfrm>
          <a:off x="919300" y="2345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{8B6DAB11-8002-4A38-BE15-2C94C2505A4C}</a:tableStyleId>
              </a:tblPr>
              <a:tblGrid>
                <a:gridCol w="1233700"/>
                <a:gridCol w="2317800"/>
                <a:gridCol w="1438450"/>
              </a:tblGrid>
              <a:tr h="541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實驗變數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設定值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對應參數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1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粒子半徑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0.1</a:t>
                      </a:r>
                      <a:r>
                        <a:rPr lang="en-US"/>
                        <a:t>、1.0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1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密度分布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0.0(</a:t>
                      </a:r>
                      <a:r>
                        <a:rPr lang="en-US"/>
                        <a:t>均勻</a:t>
                      </a:r>
                      <a:r>
                        <a:rPr lang="en-US"/>
                        <a:t>)</a:t>
                      </a:r>
                      <a:r>
                        <a:rPr lang="en-US"/>
                        <a:t>、1.0(群聚)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clusterFactor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1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速度差異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0.0</a:t>
                      </a:r>
                      <a:r>
                        <a:rPr lang="en-US"/>
                        <a:t>(低速差)、0.5(高速差)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fastRatio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70" name="Google Shape;170;h284909d5204ed4f7_0_21"/>
          <p:cNvSpPr txBox="1"/>
          <p:nvPr/>
        </p:nvSpPr>
        <p:spPr>
          <a:xfrm>
            <a:off x="973325" y="4779100"/>
            <a:ext cx="4989900" cy="11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21A26"/>
                </a:solidFill>
                <a:latin typeface="Noto Sans TC"/>
                <a:ea typeface="Noto Sans TC"/>
                <a:cs typeface="Noto Sans TC"/>
                <a:sym typeface="Noto Sans TC"/>
              </a:rPr>
              <a:t>三個變數各兩種設定，交叉組合共8種場景</a:t>
            </a:r>
            <a:endParaRPr sz="1600">
              <a:solidFill>
                <a:srgbClr val="121A26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21A26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21A26"/>
                </a:solidFill>
                <a:latin typeface="Noto Sans TC"/>
                <a:ea typeface="Noto Sans TC"/>
                <a:cs typeface="Noto Sans TC"/>
                <a:sym typeface="Noto Sans TC"/>
              </a:rPr>
              <a:t>每個場景由K由1掃至1000，取最佳K值</a:t>
            </a:r>
            <a:endParaRPr sz="1600">
              <a:solidFill>
                <a:srgbClr val="121A26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171" name="Google Shape;171;h284909d5204ed4f7_0_21"/>
          <p:cNvSpPr txBox="1"/>
          <p:nvPr/>
        </p:nvSpPr>
        <p:spPr>
          <a:xfrm>
            <a:off x="6576750" y="2067225"/>
            <a:ext cx="4688400" cy="17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B5652A"/>
                </a:solidFill>
                <a:latin typeface="Noto Sans TC"/>
                <a:ea typeface="Noto Sans TC"/>
                <a:cs typeface="Noto Sans TC"/>
                <a:sym typeface="Noto Sans TC"/>
              </a:rPr>
              <a:t>Octree ＋ Verlet List</a:t>
            </a:r>
            <a:endParaRPr b="1" sz="2000">
              <a:solidFill>
                <a:srgbClr val="B5652A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6B6B6B"/>
                </a:solidFill>
                <a:latin typeface="Noto Sans TC"/>
                <a:ea typeface="Noto Sans TC"/>
                <a:cs typeface="Noto Sans TC"/>
                <a:sym typeface="Noto Sans TC"/>
              </a:rPr>
              <a:t>實驗組</a:t>
            </a:r>
            <a:endParaRPr sz="1650">
              <a:solidFill>
                <a:srgbClr val="6B6B6B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3D63A8"/>
                </a:solidFill>
                <a:latin typeface="Noto Sans TC"/>
                <a:ea typeface="Noto Sans TC"/>
                <a:cs typeface="Noto Sans TC"/>
                <a:sym typeface="Noto Sans TC"/>
              </a:rPr>
              <a:t>Uniform Grid ＋ Verlet List</a:t>
            </a:r>
            <a:endParaRPr b="1" sz="2000">
              <a:solidFill>
                <a:srgbClr val="3D63A8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6B6B6B"/>
                </a:solidFill>
                <a:latin typeface="Noto Sans TC"/>
                <a:ea typeface="Noto Sans TC"/>
                <a:cs typeface="Noto Sans TC"/>
                <a:sym typeface="Noto Sans TC"/>
              </a:rPr>
              <a:t>對照組</a:t>
            </a:r>
            <a:endParaRPr sz="1650">
              <a:solidFill>
                <a:srgbClr val="6B6B6B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21A26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"/>
          <p:cNvSpPr/>
          <p:nvPr/>
        </p:nvSpPr>
        <p:spPr>
          <a:xfrm>
            <a:off x="0" y="0"/>
            <a:ext cx="12192001" cy="9550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178" name="Google Shape;178;p9"/>
          <p:cNvSpPr txBox="1"/>
          <p:nvPr>
            <p:ph type="title"/>
          </p:nvPr>
        </p:nvSpPr>
        <p:spPr>
          <a:xfrm>
            <a:off x="0" y="0"/>
            <a:ext cx="12192001" cy="955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0" lIns="812800" spcFirstLastPara="1" rIns="495800" wrap="square" tIns="2794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Noto Sans TC"/>
              <a:buNone/>
            </a:pPr>
            <a:r>
              <a:rPr b="1" lang="en-US">
                <a:solidFill>
                  <a:srgbClr val="FFFFFF"/>
                </a:solidFill>
              </a:rPr>
              <a:t>4.實驗</a:t>
            </a:r>
            <a:endParaRPr sz="2600"/>
          </a:p>
        </p:txBody>
      </p:sp>
      <p:sp>
        <p:nvSpPr>
          <p:cNvPr id="179" name="Google Shape;179;p9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0" name="Google Shape;180;p9"/>
          <p:cNvSpPr txBox="1"/>
          <p:nvPr>
            <p:ph type="title"/>
          </p:nvPr>
        </p:nvSpPr>
        <p:spPr>
          <a:xfrm>
            <a:off x="-12" y="955038"/>
            <a:ext cx="12192000" cy="9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0" lIns="812800" spcFirstLastPara="1" rIns="495800" wrap="square" tIns="2794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Noto Sans TC"/>
              <a:buNone/>
            </a:pPr>
            <a:r>
              <a:rPr lang="en-US"/>
              <a:t>八個場景的整體效能</a:t>
            </a:r>
            <a:endParaRPr sz="2600"/>
          </a:p>
        </p:txBody>
      </p:sp>
      <p:pic>
        <p:nvPicPr>
          <p:cNvPr id="181" name="Google Shape;181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6425" y="1694074"/>
            <a:ext cx="10083425" cy="40599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9"/>
          <p:cNvSpPr txBox="1"/>
          <p:nvPr/>
        </p:nvSpPr>
        <p:spPr>
          <a:xfrm>
            <a:off x="1444675" y="5845075"/>
            <a:ext cx="9753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250">
                <a:solidFill>
                  <a:srgbClr val="222222"/>
                </a:solidFill>
                <a:latin typeface="Noto Sans TC"/>
                <a:ea typeface="Noto Sans TC"/>
                <a:cs typeface="Noto Sans TC"/>
                <a:sym typeface="Noto Sans TC"/>
              </a:rPr>
              <a:t>Octree 只在 r = 0.1、均勻、低速差時勝出（快 2.7 倍）；其餘 7 個場景都是 Uniform Grid 較快（1.3～2.4 倍）。</a:t>
            </a:r>
            <a:endParaRPr sz="1250">
              <a:solidFill>
                <a:srgbClr val="222222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"/>
          <p:cNvSpPr/>
          <p:nvPr/>
        </p:nvSpPr>
        <p:spPr>
          <a:xfrm>
            <a:off x="0" y="0"/>
            <a:ext cx="12192001" cy="9550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189" name="Google Shape;189;p10"/>
          <p:cNvSpPr txBox="1"/>
          <p:nvPr>
            <p:ph type="title"/>
          </p:nvPr>
        </p:nvSpPr>
        <p:spPr>
          <a:xfrm>
            <a:off x="0" y="0"/>
            <a:ext cx="12192001" cy="955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0" lIns="812800" spcFirstLastPara="1" rIns="495800" wrap="square" tIns="279400">
            <a:normAutofit fontScale="90000"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95902"/>
              <a:buFont typeface="Noto Sans TC"/>
              <a:buNone/>
            </a:pPr>
            <a:r>
              <a:rPr b="1" lang="en-US" sz="2711">
                <a:solidFill>
                  <a:schemeClr val="lt1"/>
                </a:solidFill>
              </a:rPr>
              <a:t>4.實驗</a:t>
            </a:r>
            <a:endParaRPr sz="271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Noto Sans TC"/>
              <a:buNone/>
            </a:pPr>
            <a:r>
              <a:t/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190" name="Google Shape;190;p1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1" name="Google Shape;191;p10"/>
          <p:cNvSpPr txBox="1"/>
          <p:nvPr/>
        </p:nvSpPr>
        <p:spPr>
          <a:xfrm>
            <a:off x="581200" y="1129175"/>
            <a:ext cx="6715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222222"/>
                </a:solidFill>
                <a:latin typeface="Noto Sans TC"/>
                <a:ea typeface="Noto Sans TC"/>
                <a:cs typeface="Noto Sans TC"/>
                <a:sym typeface="Noto Sans TC"/>
              </a:rPr>
              <a:t>Octree 為什麼能在 r = 0.1、均勻、低速差時勝出？</a:t>
            </a:r>
            <a:endParaRPr sz="2300">
              <a:solidFill>
                <a:srgbClr val="222222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pic>
        <p:nvPicPr>
          <p:cNvPr id="192" name="Google Shape;19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67975"/>
            <a:ext cx="11887201" cy="3830836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0"/>
          <p:cNvSpPr txBox="1"/>
          <p:nvPr/>
        </p:nvSpPr>
        <p:spPr>
          <a:xfrm>
            <a:off x="831450" y="5598863"/>
            <a:ext cx="105291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222222"/>
                </a:solidFill>
                <a:latin typeface="Noto Sans TC"/>
                <a:ea typeface="Noto Sans TC"/>
                <a:cs typeface="Noto Sans TC"/>
                <a:sym typeface="Noto Sans TC"/>
              </a:rPr>
              <a:t>粒子小時，Uniform Grid 的緩衝上限也跟著變小，重建始終在 900 次以上；Octree 的上限不受粒子大小影響，重建可降到 52 次。</a:t>
            </a:r>
            <a:endParaRPr sz="1250">
              <a:solidFill>
                <a:srgbClr val="222222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450">
                <a:solidFill>
                  <a:srgbClr val="6B6B6B"/>
                </a:solidFill>
                <a:latin typeface="Noto Sans TC"/>
                <a:ea typeface="Noto Sans TC"/>
                <a:cs typeface="Noto Sans TC"/>
                <a:sym typeface="Noto Sans TC"/>
              </a:rPr>
              <a:t>但緩衝越大，比對的配對越多，所以總時間呈 U 型，K = 10 時最快</a:t>
            </a:r>
            <a:r>
              <a:rPr lang="en-US" sz="1150">
                <a:solidFill>
                  <a:srgbClr val="6B6B6B"/>
                </a:solidFill>
                <a:latin typeface="Noto Sans TC"/>
                <a:ea typeface="Noto Sans TC"/>
                <a:cs typeface="Noto Sans TC"/>
                <a:sym typeface="Noto Sans TC"/>
              </a:rPr>
              <a:t>。</a:t>
            </a:r>
            <a:endParaRPr sz="1150">
              <a:solidFill>
                <a:srgbClr val="6B6B6B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"/>
          <p:cNvSpPr/>
          <p:nvPr/>
        </p:nvSpPr>
        <p:spPr>
          <a:xfrm>
            <a:off x="0" y="0"/>
            <a:ext cx="12192001" cy="9550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200" name="Google Shape;200;p11"/>
          <p:cNvSpPr txBox="1"/>
          <p:nvPr>
            <p:ph type="title"/>
          </p:nvPr>
        </p:nvSpPr>
        <p:spPr>
          <a:xfrm>
            <a:off x="0" y="0"/>
            <a:ext cx="12192001" cy="955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0" lIns="812800" spcFirstLastPara="1" rIns="495800" wrap="square" tIns="279400">
            <a:normAutofit fontScale="90000"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Noto Sans TC"/>
              <a:buNone/>
            </a:pPr>
            <a:r>
              <a:rPr b="1" lang="en-US">
                <a:solidFill>
                  <a:schemeClr val="lt1"/>
                </a:solidFill>
              </a:rPr>
              <a:t>4.實驗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Noto Sans TC"/>
              <a:buNone/>
            </a:pPr>
            <a:r>
              <a:t/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01" name="Google Shape;201;p1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2" name="Google Shape;202;p11"/>
          <p:cNvSpPr txBox="1"/>
          <p:nvPr/>
        </p:nvSpPr>
        <p:spPr>
          <a:xfrm>
            <a:off x="730650" y="955050"/>
            <a:ext cx="6598800" cy="9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222222"/>
                </a:solidFill>
                <a:latin typeface="Noto Sans TC"/>
                <a:ea typeface="Noto Sans TC"/>
                <a:cs typeface="Noto Sans TC"/>
                <a:sym typeface="Noto Sans TC"/>
              </a:rPr>
              <a:t>Octree 省下的重建，抵不過每次重建多出的成本</a:t>
            </a:r>
            <a:endParaRPr sz="2300">
              <a:solidFill>
                <a:srgbClr val="222222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222222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203" name="Google Shape;203;p11"/>
          <p:cNvSpPr txBox="1"/>
          <p:nvPr/>
        </p:nvSpPr>
        <p:spPr>
          <a:xfrm>
            <a:off x="812800" y="5535700"/>
            <a:ext cx="3000000" cy="7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2B3A5C"/>
                </a:solidFill>
                <a:latin typeface="Noto Sans TC"/>
                <a:ea typeface="Noto Sans TC"/>
                <a:cs typeface="Noto Sans TC"/>
                <a:sym typeface="Noto Sans TC"/>
              </a:rPr>
              <a:t>高速差</a:t>
            </a:r>
            <a:endParaRPr b="1" sz="1500">
              <a:solidFill>
                <a:srgbClr val="2B3A5C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>
                <a:solidFill>
                  <a:srgbClr val="222222"/>
                </a:solidFill>
                <a:latin typeface="Noto Sans TC"/>
                <a:ea typeface="Noto Sans TC"/>
                <a:cs typeface="Noto Sans TC"/>
                <a:sym typeface="Noto Sans TC"/>
              </a:rPr>
              <a:t>綠條短：重建最多只少 26%</a:t>
            </a:r>
            <a:endParaRPr>
              <a:solidFill>
                <a:srgbClr val="222222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204" name="Google Shape;204;p11"/>
          <p:cNvSpPr txBox="1"/>
          <p:nvPr/>
        </p:nvSpPr>
        <p:spPr>
          <a:xfrm>
            <a:off x="4596000" y="5535700"/>
            <a:ext cx="3000000" cy="7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2B3A5C"/>
                </a:solidFill>
                <a:latin typeface="Noto Sans TC"/>
                <a:ea typeface="Noto Sans TC"/>
                <a:cs typeface="Noto Sans TC"/>
                <a:sym typeface="Noto Sans TC"/>
              </a:rPr>
              <a:t>群聚</a:t>
            </a:r>
            <a:endParaRPr b="1" sz="1500">
              <a:solidFill>
                <a:srgbClr val="2B3A5C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>
                <a:solidFill>
                  <a:srgbClr val="222222"/>
                </a:solidFill>
                <a:latin typeface="Noto Sans TC"/>
                <a:ea typeface="Noto Sans TC"/>
                <a:cs typeface="Noto Sans TC"/>
                <a:sym typeface="Noto Sans TC"/>
              </a:rPr>
              <a:t>紅條長：每次重建貴 1.9～3.0 倍</a:t>
            </a:r>
            <a:endParaRPr>
              <a:solidFill>
                <a:srgbClr val="222222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205" name="Google Shape;205;p11"/>
          <p:cNvSpPr txBox="1"/>
          <p:nvPr/>
        </p:nvSpPr>
        <p:spPr>
          <a:xfrm>
            <a:off x="8020400" y="5535700"/>
            <a:ext cx="3388800" cy="7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2B3A5C"/>
                </a:solidFill>
                <a:latin typeface="Noto Sans TC"/>
                <a:ea typeface="Noto Sans TC"/>
                <a:cs typeface="Noto Sans TC"/>
                <a:sym typeface="Noto Sans TC"/>
              </a:rPr>
              <a:t>r = 1.0、均勻、低速差</a:t>
            </a:r>
            <a:endParaRPr b="1" sz="1500">
              <a:solidFill>
                <a:srgbClr val="2B3A5C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>
                <a:solidFill>
                  <a:srgbClr val="222222"/>
                </a:solidFill>
                <a:latin typeface="Noto Sans TC"/>
                <a:ea typeface="Noto Sans TC"/>
                <a:cs typeface="Noto Sans TC"/>
                <a:sym typeface="Noto Sans TC"/>
              </a:rPr>
              <a:t>紅條最長：每次重建貴5.3 倍</a:t>
            </a:r>
            <a:endParaRPr>
              <a:solidFill>
                <a:srgbClr val="222222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pic>
        <p:nvPicPr>
          <p:cNvPr id="206" name="Google Shape;206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0650" y="1559949"/>
            <a:ext cx="10207602" cy="3886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2"/>
          <p:cNvSpPr/>
          <p:nvPr/>
        </p:nvSpPr>
        <p:spPr>
          <a:xfrm>
            <a:off x="0" y="0"/>
            <a:ext cx="12192001" cy="9550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213" name="Google Shape;213;p12"/>
          <p:cNvSpPr txBox="1"/>
          <p:nvPr>
            <p:ph type="title"/>
          </p:nvPr>
        </p:nvSpPr>
        <p:spPr>
          <a:xfrm>
            <a:off x="0" y="0"/>
            <a:ext cx="12192001" cy="955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0" lIns="812800" spcFirstLastPara="1" rIns="495800" wrap="square" tIns="2794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Noto Sans TC"/>
              <a:buNone/>
            </a:pPr>
            <a:r>
              <a:rPr b="1" lang="en-US">
                <a:solidFill>
                  <a:srgbClr val="FFFFFF"/>
                </a:solidFill>
              </a:rPr>
              <a:t>5.</a:t>
            </a:r>
            <a:r>
              <a:rPr b="1" i="0" lang="en-US" sz="2600">
                <a:solidFill>
                  <a:srgbClr val="FFFFFF"/>
                </a:solidFill>
                <a:latin typeface="Noto Sans TC"/>
                <a:ea typeface="Noto Sans TC"/>
                <a:cs typeface="Noto Sans TC"/>
                <a:sym typeface="Noto Sans TC"/>
              </a:rPr>
              <a:t>結論</a:t>
            </a:r>
            <a:endParaRPr sz="2600"/>
          </a:p>
        </p:txBody>
      </p:sp>
      <p:sp>
        <p:nvSpPr>
          <p:cNvPr id="214" name="Google Shape;214;p1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15" name="Google Shape;215;p12"/>
          <p:cNvGrpSpPr/>
          <p:nvPr/>
        </p:nvGrpSpPr>
        <p:grpSpPr>
          <a:xfrm>
            <a:off x="203495" y="1414461"/>
            <a:ext cx="7237227" cy="3148778"/>
            <a:chOff x="232475" y="1718974"/>
            <a:chExt cx="7324387" cy="3186700"/>
          </a:xfrm>
        </p:grpSpPr>
        <p:sp>
          <p:nvSpPr>
            <p:cNvPr id="216" name="Google Shape;216;p12"/>
            <p:cNvSpPr txBox="1"/>
            <p:nvPr/>
          </p:nvSpPr>
          <p:spPr>
            <a:xfrm>
              <a:off x="232475" y="1737423"/>
              <a:ext cx="501300" cy="67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4175" lIns="84175" spcFirstLastPara="1" rIns="84175" wrap="square" tIns="8417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22">
                  <a:solidFill>
                    <a:srgbClr val="2B3A5C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1</a:t>
              </a:r>
              <a:endParaRPr b="1" sz="3222">
                <a:solidFill>
                  <a:srgbClr val="2B3A5C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17" name="Google Shape;217;p12"/>
            <p:cNvSpPr txBox="1"/>
            <p:nvPr/>
          </p:nvSpPr>
          <p:spPr>
            <a:xfrm>
              <a:off x="232475" y="2743633"/>
              <a:ext cx="501300" cy="67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4175" lIns="84175" spcFirstLastPara="1" rIns="84175" wrap="square" tIns="8417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22">
                  <a:solidFill>
                    <a:srgbClr val="2B3A5C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2</a:t>
              </a:r>
              <a:endParaRPr b="1" sz="3222">
                <a:solidFill>
                  <a:srgbClr val="2B3A5C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18" name="Google Shape;218;p12"/>
            <p:cNvSpPr txBox="1"/>
            <p:nvPr/>
          </p:nvSpPr>
          <p:spPr>
            <a:xfrm>
              <a:off x="232475" y="3831674"/>
              <a:ext cx="501300" cy="67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4175" lIns="84175" spcFirstLastPara="1" rIns="84175" wrap="square" tIns="8417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22">
                  <a:solidFill>
                    <a:srgbClr val="2B3A5C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3</a:t>
              </a:r>
              <a:endParaRPr b="1" sz="3222">
                <a:solidFill>
                  <a:srgbClr val="2B3A5C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19" name="Google Shape;219;p12"/>
            <p:cNvSpPr txBox="1"/>
            <p:nvPr/>
          </p:nvSpPr>
          <p:spPr>
            <a:xfrm>
              <a:off x="733662" y="1718974"/>
              <a:ext cx="4199100" cy="79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4175" lIns="84175" spcFirstLastPara="1" rIns="84175" wrap="square" tIns="8417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41">
                  <a:solidFill>
                    <a:srgbClr val="2222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正確性</a:t>
              </a:r>
              <a:endParaRPr b="1" sz="1841">
                <a:solidFill>
                  <a:srgbClr val="2222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368"/>
                </a:spcBef>
                <a:spcAft>
                  <a:spcPts val="368"/>
                </a:spcAft>
                <a:buNone/>
              </a:pPr>
              <a:r>
                <a:rPr lang="en-US" sz="1565">
                  <a:solidFill>
                    <a:srgbClr val="2222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8 個場景、所有 K 值，皆與暴力法完全一致。</a:t>
              </a:r>
              <a:endParaRPr sz="1565">
                <a:solidFill>
                  <a:srgbClr val="2222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20" name="Google Shape;220;p12"/>
            <p:cNvSpPr txBox="1"/>
            <p:nvPr/>
          </p:nvSpPr>
          <p:spPr>
            <a:xfrm>
              <a:off x="733662" y="2743633"/>
              <a:ext cx="4657200" cy="107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4175" lIns="84175" spcFirstLastPara="1" rIns="84175" wrap="square" tIns="8417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41">
                  <a:solidFill>
                    <a:srgbClr val="2222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緩衝機制是取捨</a:t>
              </a:r>
              <a:endParaRPr b="1" sz="1841">
                <a:solidFill>
                  <a:srgbClr val="2222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368"/>
                </a:spcBef>
                <a:spcAft>
                  <a:spcPts val="368"/>
                </a:spcAft>
                <a:buNone/>
              </a:pPr>
              <a:r>
                <a:rPr lang="en-US" sz="1565">
                  <a:solidFill>
                    <a:srgbClr val="2222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重建減少，但候選配對增加；只在速度差異小時有明顯加速（最多約 4.5 倍）。</a:t>
              </a:r>
              <a:endParaRPr sz="1565">
                <a:solidFill>
                  <a:srgbClr val="2222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21" name="Google Shape;221;p12"/>
            <p:cNvSpPr txBox="1"/>
            <p:nvPr/>
          </p:nvSpPr>
          <p:spPr>
            <a:xfrm>
              <a:off x="733662" y="3831674"/>
              <a:ext cx="6823200" cy="107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4175" lIns="84175" spcFirstLastPara="1" rIns="84175" wrap="square" tIns="8417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41">
                  <a:solidFill>
                    <a:srgbClr val="2222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Octree 並非總是較快</a:t>
              </a:r>
              <a:endParaRPr b="1" sz="1841">
                <a:solidFill>
                  <a:srgbClr val="2222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368"/>
                </a:spcBef>
                <a:spcAft>
                  <a:spcPts val="368"/>
                </a:spcAft>
                <a:buNone/>
              </a:pPr>
              <a:r>
                <a:rPr lang="en-US" sz="1565">
                  <a:solidFill>
                    <a:srgbClr val="2222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只有在稀疏、均勻、低速差時勝出（快 2.7 倍）；其餘場景中，省下的重建抵不過每次重建多出的成本。</a:t>
              </a:r>
              <a:endParaRPr sz="1565">
                <a:solidFill>
                  <a:srgbClr val="2222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222" name="Google Shape;222;p12"/>
          <p:cNvGrpSpPr/>
          <p:nvPr/>
        </p:nvGrpSpPr>
        <p:grpSpPr>
          <a:xfrm>
            <a:off x="6681854" y="1414450"/>
            <a:ext cx="4833597" cy="1975125"/>
            <a:chOff x="8392475" y="1718975"/>
            <a:chExt cx="3669600" cy="1975125"/>
          </a:xfrm>
        </p:grpSpPr>
        <p:sp>
          <p:nvSpPr>
            <p:cNvPr id="223" name="Google Shape;223;p12"/>
            <p:cNvSpPr txBox="1"/>
            <p:nvPr/>
          </p:nvSpPr>
          <p:spPr>
            <a:xfrm>
              <a:off x="8392475" y="2338700"/>
              <a:ext cx="3669600" cy="135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/>
                <a:t>• </a:t>
              </a:r>
              <a:r>
                <a:rPr lang="en-US" sz="1800">
                  <a:solidFill>
                    <a:srgbClr val="2222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依場景特性自動選擇空間結構</a:t>
              </a:r>
              <a:endParaRPr sz="1800">
                <a:solidFill>
                  <a:srgbClr val="2222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n-US" sz="1800"/>
                <a:t>•</a:t>
              </a:r>
              <a:r>
                <a:rPr lang="en-US" sz="1800"/>
                <a:t> </a:t>
              </a:r>
              <a:r>
                <a:rPr lang="en-US" sz="1800">
                  <a:solidFill>
                    <a:srgbClr val="2222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降低 Octree 的建樹與候選搜尋成本</a:t>
              </a:r>
              <a:endParaRPr sz="1800">
                <a:solidFill>
                  <a:srgbClr val="2222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000"/>
                </a:spcBef>
                <a:spcAft>
                  <a:spcPts val="1000"/>
                </a:spcAft>
                <a:buNone/>
              </a:pPr>
              <a:r>
                <a:rPr lang="en-US" sz="1800"/>
                <a:t>•</a:t>
              </a:r>
              <a:r>
                <a:rPr lang="en-US" sz="1800"/>
                <a:t> </a:t>
              </a:r>
              <a:r>
                <a:rPr lang="en-US" sz="1800">
                  <a:solidFill>
                    <a:srgbClr val="2222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多執行緒平行化，並以多組亂數種子驗證</a:t>
              </a:r>
              <a:endParaRPr sz="1800">
                <a:solidFill>
                  <a:srgbClr val="2222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24" name="Google Shape;224;p12"/>
            <p:cNvSpPr txBox="1"/>
            <p:nvPr/>
          </p:nvSpPr>
          <p:spPr>
            <a:xfrm>
              <a:off x="8392475" y="1718975"/>
              <a:ext cx="16047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B5652A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未來方向</a:t>
              </a:r>
              <a:endParaRPr b="1" sz="2200">
                <a:solidFill>
                  <a:srgbClr val="B5652A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3"/>
          <p:cNvSpPr/>
          <p:nvPr/>
        </p:nvSpPr>
        <p:spPr>
          <a:xfrm>
            <a:off x="0" y="0"/>
            <a:ext cx="12192001" cy="1778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231" name="Google Shape;231;p13"/>
          <p:cNvSpPr/>
          <p:nvPr/>
        </p:nvSpPr>
        <p:spPr>
          <a:xfrm>
            <a:off x="0" y="6680200"/>
            <a:ext cx="12192001" cy="1778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232" name="Google Shape;232;p13"/>
          <p:cNvSpPr txBox="1"/>
          <p:nvPr>
            <p:ph type="title"/>
          </p:nvPr>
        </p:nvSpPr>
        <p:spPr>
          <a:xfrm>
            <a:off x="3937196" y="2841625"/>
            <a:ext cx="4317556" cy="793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5500"/>
              <a:buFont typeface="Noto Sans TC"/>
              <a:buNone/>
            </a:pPr>
            <a:r>
              <a:rPr b="1" i="0" lang="en-US" sz="5500">
                <a:solidFill>
                  <a:srgbClr val="1F3A5F"/>
                </a:solidFill>
                <a:latin typeface="Noto Sans TC"/>
                <a:ea typeface="Noto Sans TC"/>
                <a:cs typeface="Noto Sans TC"/>
                <a:sym typeface="Noto Sans TC"/>
              </a:rPr>
              <a:t>Thank you</a:t>
            </a:r>
            <a:endParaRPr sz="5500"/>
          </a:p>
        </p:txBody>
      </p:sp>
      <p:sp>
        <p:nvSpPr>
          <p:cNvPr id="233" name="Google Shape;233;p1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N-body 粒子碰撞偵測系統 專題成果簡報">
  <a:themeElements>
    <a:clrScheme name="N-body 粒子碰撞偵測系統 專題成果簡報">
      <a:dk1>
        <a:srgbClr val="121A26"/>
      </a:dk1>
      <a:lt1>
        <a:srgbClr val="FFFFFF"/>
      </a:lt1>
      <a:dk2>
        <a:srgbClr val="4D535C"/>
      </a:dk2>
      <a:lt2>
        <a:srgbClr val="E7E8E9"/>
      </a:lt2>
      <a:accent1>
        <a:srgbClr val="1F3A5F"/>
      </a:accent1>
      <a:accent2>
        <a:srgbClr val="2B64A8"/>
      </a:accent2>
      <a:accent3>
        <a:srgbClr val="B85E12"/>
      </a:accent3>
      <a:accent4>
        <a:srgbClr val="5F6B78"/>
      </a:accent4>
      <a:accent5>
        <a:srgbClr val="3E4A57"/>
      </a:accent5>
      <a:accent6>
        <a:srgbClr val="9AA0A6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2026-10-05T09:36:59Z</dcterms:created>
</cp:coreProperties>
</file>